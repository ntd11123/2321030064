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6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Inter Semi-Bold" charset="0"/>
      <p:regular r:id="rId25"/>
    </p:embeddedFont>
    <p:embeddedFont>
      <p:font typeface="Inter Bold" charset="0"/>
      <p:regular r:id="rId26"/>
    </p:embeddedFont>
    <p:embeddedFont>
      <p:font typeface="Tex Gyre Termes Bold" charset="0"/>
      <p:regular r:id="rId27"/>
    </p:embeddedFont>
    <p:embeddedFont>
      <p:font typeface="Times New Roman Bold" pitchFamily="18" charset="0"/>
      <p:bold r:id="rId28"/>
    </p:embeddedFont>
    <p:embeddedFont>
      <p:font typeface="Roboto Bold" charset="0"/>
      <p:regular r:id="rId29"/>
    </p:embeddedFont>
    <p:embeddedFont>
      <p:font typeface="Lato" charset="0"/>
      <p:regular r:id="rId30"/>
    </p:embeddedFont>
    <p:embeddedFont>
      <p:font typeface="Lato Bold" charset="0"/>
      <p:regular r:id="rId31"/>
    </p:embeddedFont>
    <p:embeddedFont>
      <p:font typeface="Roboto" charset="0"/>
      <p:regular r:id="rId32"/>
    </p:embeddedFont>
    <p:embeddedFont>
      <p:font typeface="Roboto Bold Italics" charset="0"/>
      <p:regular r:id="rId33"/>
    </p:embeddedFont>
    <p:embeddedFont>
      <p:font typeface="Kelvinch" charset="0"/>
      <p:regular r:id="rId34"/>
    </p:embeddedFont>
    <p:embeddedFont>
      <p:font typeface="Kelvinch Bold" charset="0"/>
      <p:regular r:id="rId35"/>
    </p:embeddedFont>
    <p:embeddedFont>
      <p:font typeface="Tex Gyre Termes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-68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1.png"/><Relationship Id="rId21" Type="http://schemas.openxmlformats.org/officeDocument/2006/relationships/image" Target="../media/image109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12.png"/><Relationship Id="rId21" Type="http://schemas.openxmlformats.org/officeDocument/2006/relationships/image" Target="../media/image130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150.png"/><Relationship Id="rId21" Type="http://schemas.openxmlformats.org/officeDocument/2006/relationships/image" Target="../media/image168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" Type="http://schemas.openxmlformats.org/officeDocument/2006/relationships/image" Target="../media/image149.png"/><Relationship Id="rId16" Type="http://schemas.openxmlformats.org/officeDocument/2006/relationships/image" Target="../media/image163.png"/><Relationship Id="rId20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png"/><Relationship Id="rId19" Type="http://schemas.openxmlformats.org/officeDocument/2006/relationships/image" Target="../media/image166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" Type="http://schemas.openxmlformats.org/officeDocument/2006/relationships/image" Target="../media/image173.png"/><Relationship Id="rId16" Type="http://schemas.openxmlformats.org/officeDocument/2006/relationships/image" Target="../media/image187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19" Type="http://schemas.openxmlformats.org/officeDocument/2006/relationships/image" Target="../media/image190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3" Type="http://schemas.openxmlformats.org/officeDocument/2006/relationships/image" Target="../media/image193.png"/><Relationship Id="rId21" Type="http://schemas.openxmlformats.org/officeDocument/2006/relationships/image" Target="../media/image211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" Type="http://schemas.openxmlformats.org/officeDocument/2006/relationships/image" Target="../media/image192.png"/><Relationship Id="rId16" Type="http://schemas.openxmlformats.org/officeDocument/2006/relationships/image" Target="../media/image206.png"/><Relationship Id="rId20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13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5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12" Type="http://schemas.openxmlformats.org/officeDocument/2006/relationships/image" Target="../media/image224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png"/><Relationship Id="rId11" Type="http://schemas.openxmlformats.org/officeDocument/2006/relationships/image" Target="../media/image223.png"/><Relationship Id="rId5" Type="http://schemas.openxmlformats.org/officeDocument/2006/relationships/image" Target="../media/image217.png"/><Relationship Id="rId15" Type="http://schemas.openxmlformats.org/officeDocument/2006/relationships/image" Target="../media/image22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Relationship Id="rId14" Type="http://schemas.openxmlformats.org/officeDocument/2006/relationships/image" Target="../media/image2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image" Target="../media/image239.png"/><Relationship Id="rId18" Type="http://schemas.openxmlformats.org/officeDocument/2006/relationships/image" Target="../media/image244.png"/><Relationship Id="rId3" Type="http://schemas.openxmlformats.org/officeDocument/2006/relationships/image" Target="../media/image229.png"/><Relationship Id="rId21" Type="http://schemas.openxmlformats.org/officeDocument/2006/relationships/image" Target="../media/image247.png"/><Relationship Id="rId7" Type="http://schemas.openxmlformats.org/officeDocument/2006/relationships/image" Target="../media/image233.png"/><Relationship Id="rId12" Type="http://schemas.openxmlformats.org/officeDocument/2006/relationships/image" Target="../media/image238.png"/><Relationship Id="rId17" Type="http://schemas.openxmlformats.org/officeDocument/2006/relationships/image" Target="../media/image243.png"/><Relationship Id="rId2" Type="http://schemas.openxmlformats.org/officeDocument/2006/relationships/image" Target="../media/image228.png"/><Relationship Id="rId16" Type="http://schemas.openxmlformats.org/officeDocument/2006/relationships/image" Target="../media/image242.png"/><Relationship Id="rId20" Type="http://schemas.openxmlformats.org/officeDocument/2006/relationships/image" Target="../media/image2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11" Type="http://schemas.openxmlformats.org/officeDocument/2006/relationships/image" Target="../media/image237.png"/><Relationship Id="rId5" Type="http://schemas.openxmlformats.org/officeDocument/2006/relationships/image" Target="../media/image231.png"/><Relationship Id="rId15" Type="http://schemas.openxmlformats.org/officeDocument/2006/relationships/image" Target="../media/image241.png"/><Relationship Id="rId10" Type="http://schemas.openxmlformats.org/officeDocument/2006/relationships/image" Target="../media/image236.png"/><Relationship Id="rId19" Type="http://schemas.openxmlformats.org/officeDocument/2006/relationships/image" Target="../media/image245.png"/><Relationship Id="rId4" Type="http://schemas.openxmlformats.org/officeDocument/2006/relationships/image" Target="../media/image230.png"/><Relationship Id="rId9" Type="http://schemas.openxmlformats.org/officeDocument/2006/relationships/image" Target="../media/image235.png"/><Relationship Id="rId14" Type="http://schemas.openxmlformats.org/officeDocument/2006/relationships/image" Target="../media/image240.png"/><Relationship Id="rId22" Type="http://schemas.openxmlformats.org/officeDocument/2006/relationships/image" Target="../media/image2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838450" cy="2362200"/>
          </a:xfrm>
          <a:custGeom>
            <a:avLst/>
            <a:gdLst/>
            <a:ahLst/>
            <a:cxnLst/>
            <a:rect l="l" t="t" r="r" b="b"/>
            <a:pathLst>
              <a:path w="2838450" h="236220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305550" y="7715250"/>
            <a:ext cx="2628900" cy="2571750"/>
          </a:xfrm>
          <a:custGeom>
            <a:avLst/>
            <a:gdLst/>
            <a:ahLst/>
            <a:cxnLst/>
            <a:rect l="l" t="t" r="r" b="b"/>
            <a:pathLst>
              <a:path w="2628900" h="2571750">
                <a:moveTo>
                  <a:pt x="0" y="0"/>
                </a:moveTo>
                <a:lnTo>
                  <a:pt x="2628900" y="0"/>
                </a:lnTo>
                <a:lnTo>
                  <a:pt x="26289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0887075" cy="10287000"/>
          </a:xfrm>
          <a:custGeom>
            <a:avLst/>
            <a:gdLst/>
            <a:ahLst/>
            <a:cxnLst/>
            <a:rect l="l" t="t" r="r" b="b"/>
            <a:pathLst>
              <a:path w="10887075" h="10287000">
                <a:moveTo>
                  <a:pt x="0" y="0"/>
                </a:moveTo>
                <a:lnTo>
                  <a:pt x="10887075" y="0"/>
                </a:lnTo>
                <a:lnTo>
                  <a:pt x="10887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5143500"/>
            <a:ext cx="7410450" cy="5143500"/>
          </a:xfrm>
          <a:custGeom>
            <a:avLst/>
            <a:gdLst/>
            <a:ahLst/>
            <a:cxnLst/>
            <a:rect l="l" t="t" r="r" b="b"/>
            <a:pathLst>
              <a:path w="7410450" h="5143500">
                <a:moveTo>
                  <a:pt x="0" y="0"/>
                </a:moveTo>
                <a:lnTo>
                  <a:pt x="7410450" y="0"/>
                </a:lnTo>
                <a:lnTo>
                  <a:pt x="741045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85850" y="1714500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10880" y="2196171"/>
            <a:ext cx="7499457" cy="327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tích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</a:t>
            </a:r>
            <a:endParaRPr lang="en-US" sz="7354" b="1" spc="-294" dirty="0">
              <a:solidFill>
                <a:srgbClr val="F6F6F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8532"/>
              </a:lnSpc>
            </a:pP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dụng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GIS</a:t>
            </a:r>
          </a:p>
          <a:p>
            <a:pPr algn="l">
              <a:lnSpc>
                <a:spcPts val="8532"/>
              </a:lnSpc>
            </a:pP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trong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nghiên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cứu</a:t>
            </a:r>
            <a:r>
              <a:rPr lang="en-US" sz="7354" b="1" spc="-294" dirty="0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7354" b="1" spc="-294" dirty="0" err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lũ</a:t>
            </a:r>
            <a:endParaRPr lang="en-US" sz="7354" b="1" spc="-294" dirty="0">
              <a:solidFill>
                <a:srgbClr val="F6F6F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952625" y="6429375"/>
            <a:ext cx="6324600" cy="428625"/>
          </a:xfrm>
          <a:custGeom>
            <a:avLst/>
            <a:gdLst/>
            <a:ahLst/>
            <a:cxnLst/>
            <a:rect l="l" t="t" r="r" b="b"/>
            <a:pathLst>
              <a:path w="6324600" h="428625">
                <a:moveTo>
                  <a:pt x="0" y="0"/>
                </a:moveTo>
                <a:lnTo>
                  <a:pt x="6324600" y="0"/>
                </a:lnTo>
                <a:lnTo>
                  <a:pt x="6324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47775" y="7077075"/>
            <a:ext cx="952500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13</a:t>
            </a:r>
          </a:p>
          <a:p>
            <a:pPr algn="l">
              <a:lnSpc>
                <a:spcPts val="2969"/>
              </a:lnSpc>
            </a:pP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Ngọc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Ninh-2321030009</a:t>
            </a:r>
          </a:p>
          <a:p>
            <a:pPr algn="l">
              <a:lnSpc>
                <a:spcPts val="2969"/>
              </a:lnSpc>
            </a:pP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Thái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Dương-2321030064</a:t>
            </a:r>
          </a:p>
          <a:p>
            <a:pPr algn="l">
              <a:lnSpc>
                <a:spcPts val="2969"/>
              </a:lnSpc>
            </a:pPr>
            <a:r>
              <a:rPr lang="en-US" sz="2199" dirty="0" smtClean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</a:t>
            </a:r>
            <a:r>
              <a:rPr lang="en-US" sz="2199" dirty="0" smtClean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Phạm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2199" dirty="0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F6F6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Làn</a:t>
            </a:r>
            <a:endParaRPr lang="en-US" sz="2199" dirty="0">
              <a:solidFill>
                <a:srgbClr val="F6F6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5330" y="426348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8498670" cy="1508614"/>
          </a:xfrm>
          <a:custGeom>
            <a:avLst/>
            <a:gdLst/>
            <a:ahLst/>
            <a:cxnLst/>
            <a:rect l="l" t="t" r="r" b="b"/>
            <a:pathLst>
              <a:path w="8498670" h="1508614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28" t="-7158" r="-7128" b="-71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56440" y="2142670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24548" y="3561084"/>
            <a:ext cx="8498670" cy="4088563"/>
          </a:xfrm>
          <a:custGeom>
            <a:avLst/>
            <a:gdLst/>
            <a:ahLst/>
            <a:cxnLst/>
            <a:rect l="l" t="t" r="r" b="b"/>
            <a:pathLst>
              <a:path w="8498670" h="4088563">
                <a:moveTo>
                  <a:pt x="0" y="0"/>
                </a:moveTo>
                <a:lnTo>
                  <a:pt x="8498670" y="0"/>
                </a:lnTo>
                <a:lnTo>
                  <a:pt x="849867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85655" y="3781198"/>
            <a:ext cx="890967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II.</a:t>
            </a:r>
          </a:p>
        </p:txBody>
      </p:sp>
      <p:sp>
        <p:nvSpPr>
          <p:cNvPr id="8" name="Freeform 8"/>
          <p:cNvSpPr/>
          <p:nvPr/>
        </p:nvSpPr>
        <p:spPr>
          <a:xfrm>
            <a:off x="1486814" y="4520698"/>
            <a:ext cx="437512" cy="2798589"/>
          </a:xfrm>
          <a:custGeom>
            <a:avLst/>
            <a:gdLst/>
            <a:ahLst/>
            <a:cxnLst/>
            <a:rect l="l" t="t" r="r" b="b"/>
            <a:pathLst>
              <a:path w="437512" h="2798589">
                <a:moveTo>
                  <a:pt x="0" y="0"/>
                </a:moveTo>
                <a:lnTo>
                  <a:pt x="437512" y="0"/>
                </a:lnTo>
                <a:lnTo>
                  <a:pt x="43751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645633" y="4567819"/>
            <a:ext cx="3668325" cy="41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386" spc="-166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cơ sở dữ liệu GIS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5127" y="5215435"/>
            <a:ext cx="3455722" cy="41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386" spc="-166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phỏng phạm vi ngập lụt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31784" y="5863401"/>
            <a:ext cx="4738595" cy="41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386" spc="-166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vùng nguy cơ và đánh giá tác động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33578" y="6455466"/>
            <a:ext cx="5599413" cy="86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47" spc="-170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 xuất giải pháp quản lý, quy hoạch</a:t>
            </a:r>
          </a:p>
          <a:p>
            <a:pPr algn="l">
              <a:lnSpc>
                <a:spcPts val="3426"/>
              </a:lnSpc>
            </a:pPr>
            <a:r>
              <a:rPr lang="en-US" sz="2447" spc="-170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giảm thiểu rủi ro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7499343"/>
            <a:ext cx="8498670" cy="1508614"/>
          </a:xfrm>
          <a:custGeom>
            <a:avLst/>
            <a:gdLst/>
            <a:ahLst/>
            <a:cxnLst/>
            <a:rect l="l" t="t" r="r" b="b"/>
            <a:pathLst>
              <a:path w="8498670" h="1508614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85655" y="7910131"/>
            <a:ext cx="890967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6622" y="8021261"/>
            <a:ext cx="4880618" cy="4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3043" b="1" spc="-15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 liệu và khu vực nghiên cứu</a:t>
            </a:r>
          </a:p>
        </p:txBody>
      </p:sp>
      <p:sp>
        <p:nvSpPr>
          <p:cNvPr id="16" name="Freeform 16"/>
          <p:cNvSpPr/>
          <p:nvPr/>
        </p:nvSpPr>
        <p:spPr>
          <a:xfrm>
            <a:off x="9351818" y="1924030"/>
            <a:ext cx="8290852" cy="1727254"/>
          </a:xfrm>
          <a:custGeom>
            <a:avLst/>
            <a:gdLst/>
            <a:ahLst/>
            <a:cxnLst/>
            <a:rect l="l" t="t" r="r" b="b"/>
            <a:pathLst>
              <a:path w="8290852" h="1727254">
                <a:moveTo>
                  <a:pt x="0" y="0"/>
                </a:moveTo>
                <a:lnTo>
                  <a:pt x="8290852" y="0"/>
                </a:lnTo>
                <a:lnTo>
                  <a:pt x="8290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222" t="-6252" r="-6222" b="-62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799474" y="2459197"/>
            <a:ext cx="1396114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89237" y="2513904"/>
            <a:ext cx="4287382" cy="7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 spc="-128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Phương pháp: Quy trình</a:t>
            </a:r>
          </a:p>
          <a:p>
            <a:pPr algn="l">
              <a:lnSpc>
                <a:spcPts val="3090"/>
              </a:lnSpc>
            </a:pPr>
            <a:r>
              <a:rPr lang="en-US" sz="2575" b="1" spc="-128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 nguy cơ lũ lụt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583164" y="3011990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351818" y="3640352"/>
            <a:ext cx="8290852" cy="1508614"/>
          </a:xfrm>
          <a:custGeom>
            <a:avLst/>
            <a:gdLst/>
            <a:ahLst/>
            <a:cxnLst/>
            <a:rect l="l" t="t" r="r" b="b"/>
            <a:pathLst>
              <a:path w="8290852" h="1508614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128" t="-7158" r="-7128" b="-71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799474" y="4030451"/>
            <a:ext cx="1076004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455110" y="3848060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389930" y="5138034"/>
            <a:ext cx="8290852" cy="1727254"/>
          </a:xfrm>
          <a:custGeom>
            <a:avLst/>
            <a:gdLst/>
            <a:ahLst/>
            <a:cxnLst/>
            <a:rect l="l" t="t" r="r" b="b"/>
            <a:pathLst>
              <a:path w="8290852" h="1727254">
                <a:moveTo>
                  <a:pt x="0" y="0"/>
                </a:moveTo>
                <a:lnTo>
                  <a:pt x="8290851" y="0"/>
                </a:lnTo>
                <a:lnTo>
                  <a:pt x="8290851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222" t="-6252" r="-6222" b="-62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9799474" y="5482341"/>
            <a:ext cx="1311458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21641" y="5691891"/>
            <a:ext cx="1147893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12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455110" y="5564382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925244" y="6600865"/>
            <a:ext cx="9362756" cy="3651284"/>
          </a:xfrm>
          <a:custGeom>
            <a:avLst/>
            <a:gdLst/>
            <a:ahLst/>
            <a:cxnLst/>
            <a:rect l="l" t="t" r="r" b="b"/>
            <a:pathLst>
              <a:path w="9362756" h="3651284">
                <a:moveTo>
                  <a:pt x="0" y="0"/>
                </a:moveTo>
                <a:lnTo>
                  <a:pt x="9362756" y="0"/>
                </a:lnTo>
                <a:lnTo>
                  <a:pt x="936275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767357" y="2513904"/>
            <a:ext cx="4333492" cy="4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</a:t>
            </a:r>
            <a:r>
              <a:rPr lang="en-US" sz="3043" b="1" spc="-151" dirty="0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cấp</a:t>
            </a:r>
            <a:r>
              <a:rPr lang="en-US" sz="3043" b="1" spc="-151" dirty="0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3043" b="1" spc="-151" dirty="0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của</a:t>
            </a:r>
            <a:r>
              <a:rPr lang="en-US" sz="3043" b="1" spc="-151" dirty="0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</a:t>
            </a:r>
            <a:r>
              <a:rPr lang="en-US" sz="3043" b="1" spc="-151" dirty="0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043" b="1" spc="-151" dirty="0" err="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tài</a:t>
            </a:r>
            <a:endParaRPr lang="en-US" sz="3043" b="1" spc="-151" dirty="0">
              <a:solidFill>
                <a:srgbClr val="FFFFFF">
                  <a:alpha val="89804"/>
                </a:srgbClr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002713" y="3901764"/>
            <a:ext cx="2821787" cy="4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3043" b="1" spc="-15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7531" y="4197141"/>
            <a:ext cx="1063532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b="1" spc="-121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quả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0512" y="2414014"/>
            <a:ext cx="650116" cy="6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221">
                <a:solidFill>
                  <a:srgbClr val="30BDD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30628" y="4611254"/>
            <a:ext cx="750094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588" b="1" spc="-128">
                <a:solidFill>
                  <a:srgbClr val="30BDD1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2.1.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30628" y="5876364"/>
            <a:ext cx="750094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588" b="1" spc="-128">
                <a:solidFill>
                  <a:srgbClr val="30BDD1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2.3.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30628" y="6493859"/>
            <a:ext cx="750094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588" b="1" spc="-128">
                <a:solidFill>
                  <a:srgbClr val="30BDD1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2.4.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30628" y="5258870"/>
            <a:ext cx="750094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588" b="1" spc="-128">
                <a:solidFill>
                  <a:srgbClr val="30BDD1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2.2.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239000" y="3810000"/>
            <a:ext cx="1714500" cy="457200"/>
            <a:chOff x="0" y="0"/>
            <a:chExt cx="2286000" cy="609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86000" cy="609600"/>
            </a:xfrm>
            <a:custGeom>
              <a:avLst/>
              <a:gdLst/>
              <a:ahLst/>
              <a:cxnLst/>
              <a:rect l="l" t="t" r="r" b="b"/>
              <a:pathLst>
                <a:path w="2286000" h="609600">
                  <a:moveTo>
                    <a:pt x="0" y="0"/>
                  </a:moveTo>
                  <a:lnTo>
                    <a:pt x="2286000" y="0"/>
                  </a:lnTo>
                  <a:lnTo>
                    <a:pt x="2286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628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2860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811500" y="2686050"/>
            <a:ext cx="1381125" cy="457200"/>
            <a:chOff x="0" y="0"/>
            <a:chExt cx="1841500" cy="609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41500" cy="609600"/>
            </a:xfrm>
            <a:custGeom>
              <a:avLst/>
              <a:gdLst/>
              <a:ahLst/>
              <a:cxnLst/>
              <a:rect l="l" t="t" r="r" b="b"/>
              <a:pathLst>
                <a:path w="1841500" h="609600">
                  <a:moveTo>
                    <a:pt x="0" y="0"/>
                  </a:moveTo>
                  <a:lnTo>
                    <a:pt x="1841500" y="0"/>
                  </a:lnTo>
                  <a:lnTo>
                    <a:pt x="18415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628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8415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811500" y="4286250"/>
            <a:ext cx="1666875" cy="457200"/>
            <a:chOff x="0" y="0"/>
            <a:chExt cx="2222500" cy="609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22500" cy="609600"/>
            </a:xfrm>
            <a:custGeom>
              <a:avLst/>
              <a:gdLst/>
              <a:ahLst/>
              <a:cxnLst/>
              <a:rect l="l" t="t" r="r" b="b"/>
              <a:pathLst>
                <a:path w="2222500" h="609600">
                  <a:moveTo>
                    <a:pt x="0" y="0"/>
                  </a:moveTo>
                  <a:lnTo>
                    <a:pt x="2222500" y="0"/>
                  </a:lnTo>
                  <a:lnTo>
                    <a:pt x="22225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628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2225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811500" y="5791200"/>
            <a:ext cx="1381125" cy="457200"/>
            <a:chOff x="0" y="0"/>
            <a:chExt cx="1841500" cy="609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41500" cy="609600"/>
            </a:xfrm>
            <a:custGeom>
              <a:avLst/>
              <a:gdLst/>
              <a:ahLst/>
              <a:cxnLst/>
              <a:rect l="l" t="t" r="r" b="b"/>
              <a:pathLst>
                <a:path w="1841500" h="609600">
                  <a:moveTo>
                    <a:pt x="0" y="0"/>
                  </a:moveTo>
                  <a:lnTo>
                    <a:pt x="1841500" y="0"/>
                  </a:lnTo>
                  <a:lnTo>
                    <a:pt x="18415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628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8415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4924425"/>
            <a:ext cx="7620000" cy="5362575"/>
          </a:xfrm>
          <a:custGeom>
            <a:avLst/>
            <a:gdLst/>
            <a:ahLst/>
            <a:cxnLst/>
            <a:rect l="l" t="t" r="r" b="b"/>
            <a:pathLst>
              <a:path w="7620000" h="5362575">
                <a:moveTo>
                  <a:pt x="0" y="0"/>
                </a:moveTo>
                <a:lnTo>
                  <a:pt x="7620000" y="0"/>
                </a:lnTo>
                <a:lnTo>
                  <a:pt x="7620000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2775" y="0"/>
            <a:ext cx="3705225" cy="2143125"/>
          </a:xfrm>
          <a:custGeom>
            <a:avLst/>
            <a:gdLst/>
            <a:ahLst/>
            <a:cxnLst/>
            <a:rect l="l" t="t" r="r" b="b"/>
            <a:pathLst>
              <a:path w="3705225" h="2143125">
                <a:moveTo>
                  <a:pt x="0" y="0"/>
                </a:moveTo>
                <a:lnTo>
                  <a:pt x="3705225" y="0"/>
                </a:lnTo>
                <a:lnTo>
                  <a:pt x="3705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66775" y="857250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83911" y="1256095"/>
            <a:ext cx="9896266" cy="89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1" spc="-327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I.Tính cấp thiết của đề tài</a:t>
            </a:r>
          </a:p>
        </p:txBody>
      </p:sp>
      <p:sp>
        <p:nvSpPr>
          <p:cNvPr id="7" name="Freeform 7"/>
          <p:cNvSpPr/>
          <p:nvPr/>
        </p:nvSpPr>
        <p:spPr>
          <a:xfrm>
            <a:off x="866775" y="2352675"/>
            <a:ext cx="16335375" cy="2790825"/>
          </a:xfrm>
          <a:custGeom>
            <a:avLst/>
            <a:gdLst/>
            <a:ahLst/>
            <a:cxnLst/>
            <a:rect l="l" t="t" r="r" b="b"/>
            <a:pathLst>
              <a:path w="16335375" h="2790825">
                <a:moveTo>
                  <a:pt x="0" y="0"/>
                </a:moveTo>
                <a:lnTo>
                  <a:pt x="16335375" y="0"/>
                </a:lnTo>
                <a:lnTo>
                  <a:pt x="16335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04925" y="2571750"/>
            <a:ext cx="2400300" cy="2362200"/>
          </a:xfrm>
          <a:custGeom>
            <a:avLst/>
            <a:gdLst/>
            <a:ahLst/>
            <a:cxnLst/>
            <a:rect l="l" t="t" r="r" b="b"/>
            <a:pathLst>
              <a:path w="2400300" h="23622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793080" y="2710867"/>
            <a:ext cx="11812347" cy="150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110" dirty="0" err="1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</a:t>
            </a:r>
            <a:r>
              <a:rPr lang="en-US" sz="2759" b="1" spc="-110" dirty="0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759" b="1" spc="-110" dirty="0" err="1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trạng</a:t>
            </a:r>
            <a:r>
              <a:rPr lang="en-US" sz="2759" b="1" spc="-110" dirty="0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Nam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quốc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nặng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nề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lụt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Theo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quốc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phòng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tai,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lụt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gây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thiệt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hại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khoảng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10.000 – 12.000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tỷ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2759" spc="-11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759" spc="-110" dirty="0" err="1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2759" spc="-11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hàng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trăm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chết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mất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9" spc="-11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759" spc="-11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85850" y="5353050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907767" y="5282561"/>
            <a:ext cx="6252082" cy="50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616" b="1" spc="-180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tỉnh chịu ảnh hưởng nặng: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401550" y="5353050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47700" y="6000750"/>
            <a:ext cx="5667375" cy="2790825"/>
          </a:xfrm>
          <a:custGeom>
            <a:avLst/>
            <a:gdLst/>
            <a:ahLst/>
            <a:cxnLst/>
            <a:rect l="l" t="t" r="r" b="b"/>
            <a:pathLst>
              <a:path w="5667375" h="2790825">
                <a:moveTo>
                  <a:pt x="0" y="0"/>
                </a:moveTo>
                <a:lnTo>
                  <a:pt x="5667375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66775" y="6429375"/>
            <a:ext cx="2181225" cy="1933575"/>
          </a:xfrm>
          <a:custGeom>
            <a:avLst/>
            <a:gdLst/>
            <a:ahLst/>
            <a:cxnLst/>
            <a:rect l="l" t="t" r="r" b="b"/>
            <a:pathLst>
              <a:path w="2181225" h="193357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199017" y="6629400"/>
            <a:ext cx="1567026" cy="38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-137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Miền Bắc: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9672" y="7100250"/>
            <a:ext cx="2501571" cy="8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Ninh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Phú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Thọ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Lào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Cai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305550" y="6000750"/>
            <a:ext cx="5457825" cy="2790825"/>
          </a:xfrm>
          <a:custGeom>
            <a:avLst/>
            <a:gdLst/>
            <a:ahLst/>
            <a:cxnLst/>
            <a:rect l="l" t="t" r="r" b="b"/>
            <a:pathLst>
              <a:path w="5457825" h="2790825">
                <a:moveTo>
                  <a:pt x="0" y="0"/>
                </a:moveTo>
                <a:lnTo>
                  <a:pt x="5457825" y="0"/>
                </a:lnTo>
                <a:lnTo>
                  <a:pt x="5457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305550" y="6429375"/>
            <a:ext cx="2190750" cy="1933575"/>
          </a:xfrm>
          <a:custGeom>
            <a:avLst/>
            <a:gdLst/>
            <a:ahLst/>
            <a:cxnLst/>
            <a:rect l="l" t="t" r="r" b="b"/>
            <a:pathLst>
              <a:path w="2190750" h="1933575">
                <a:moveTo>
                  <a:pt x="0" y="0"/>
                </a:moveTo>
                <a:lnTo>
                  <a:pt x="2190750" y="0"/>
                </a:lnTo>
                <a:lnTo>
                  <a:pt x="219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8526396" y="6629400"/>
            <a:ext cx="1931481" cy="38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-137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Miền Trung: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15848" y="7100250"/>
            <a:ext cx="2986332" cy="12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Nghệ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Quảng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Thừa</a:t>
            </a:r>
            <a:endParaRPr lang="en-US" sz="2487" spc="-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Huế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753850" y="6000750"/>
            <a:ext cx="5886450" cy="2790825"/>
          </a:xfrm>
          <a:custGeom>
            <a:avLst/>
            <a:gdLst/>
            <a:ahLst/>
            <a:cxnLst/>
            <a:rect l="l" t="t" r="r" b="b"/>
            <a:pathLst>
              <a:path w="5886450" h="2790825">
                <a:moveTo>
                  <a:pt x="0" y="0"/>
                </a:moveTo>
                <a:lnTo>
                  <a:pt x="5886450" y="0"/>
                </a:lnTo>
                <a:lnTo>
                  <a:pt x="5886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972925" y="6429375"/>
            <a:ext cx="2181225" cy="1933575"/>
          </a:xfrm>
          <a:custGeom>
            <a:avLst/>
            <a:gdLst/>
            <a:ahLst/>
            <a:cxnLst/>
            <a:rect l="l" t="t" r="r" b="b"/>
            <a:pathLst>
              <a:path w="2181225" h="193357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4288156" y="6629400"/>
            <a:ext cx="1720358" cy="38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-137">
                <a:solidFill>
                  <a:srgbClr val="2FC9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Miền Nam: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74818" y="7100250"/>
            <a:ext cx="3054151" cy="12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sông</a:t>
            </a:r>
            <a:endParaRPr lang="en-US" sz="2487" spc="-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482"/>
              </a:lnSpc>
            </a:pP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Cửu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(An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Giang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87" spc="-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Tháp</a:t>
            </a:r>
            <a:r>
              <a:rPr lang="en-US" sz="2487" spc="-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Long An).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753850" y="9001125"/>
            <a:ext cx="5886450" cy="428625"/>
          </a:xfrm>
          <a:custGeom>
            <a:avLst/>
            <a:gdLst/>
            <a:ahLst/>
            <a:cxnLst/>
            <a:rect l="l" t="t" r="r" b="b"/>
            <a:pathLst>
              <a:path w="5886450" h="428625">
                <a:moveTo>
                  <a:pt x="0" y="0"/>
                </a:moveTo>
                <a:lnTo>
                  <a:pt x="5886450" y="0"/>
                </a:lnTo>
                <a:lnTo>
                  <a:pt x="5886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66775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29717" y="969046"/>
            <a:ext cx="9519758" cy="850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b="1" spc="-377">
                <a:solidFill>
                  <a:srgbClr val="FFFFFF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I.Tính cấp thiết của đề tài</a:t>
            </a:r>
          </a:p>
        </p:txBody>
      </p:sp>
      <p:sp>
        <p:nvSpPr>
          <p:cNvPr id="5" name="Freeform 5"/>
          <p:cNvSpPr/>
          <p:nvPr/>
        </p:nvSpPr>
        <p:spPr>
          <a:xfrm>
            <a:off x="866775" y="1924050"/>
            <a:ext cx="11115675" cy="2581275"/>
          </a:xfrm>
          <a:custGeom>
            <a:avLst/>
            <a:gdLst/>
            <a:ahLst/>
            <a:cxnLst/>
            <a:rect l="l" t="t" r="r" b="b"/>
            <a:pathLst>
              <a:path w="11115675" h="2581275">
                <a:moveTo>
                  <a:pt x="0" y="0"/>
                </a:moveTo>
                <a:lnTo>
                  <a:pt x="11115675" y="0"/>
                </a:lnTo>
                <a:lnTo>
                  <a:pt x="111156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5850" y="214312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701175" y="2404802"/>
            <a:ext cx="2250513" cy="45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98">
                <a:solidFill>
                  <a:srgbClr val="24C2D6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Thách thức: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0402" y="2896062"/>
            <a:ext cx="6327782" cy="129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 đổi khí hậu làm gia tăng mưa cực đoan,</a:t>
            </a:r>
          </a:p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biển dâng, khiến nguy cơ lũ lụt ngày</a:t>
            </a:r>
          </a:p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càng nghiêm trọng.</a:t>
            </a:r>
          </a:p>
        </p:txBody>
      </p:sp>
      <p:sp>
        <p:nvSpPr>
          <p:cNvPr id="9" name="Freeform 9"/>
          <p:cNvSpPr/>
          <p:nvPr/>
        </p:nvSpPr>
        <p:spPr>
          <a:xfrm>
            <a:off x="866775" y="4495800"/>
            <a:ext cx="11115675" cy="2581275"/>
          </a:xfrm>
          <a:custGeom>
            <a:avLst/>
            <a:gdLst/>
            <a:ahLst/>
            <a:cxnLst/>
            <a:rect l="l" t="t" r="r" b="b"/>
            <a:pathLst>
              <a:path w="11115675" h="2581275">
                <a:moveTo>
                  <a:pt x="0" y="0"/>
                </a:moveTo>
                <a:lnTo>
                  <a:pt x="11115675" y="0"/>
                </a:lnTo>
                <a:lnTo>
                  <a:pt x="111156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5850" y="4714875"/>
            <a:ext cx="1962150" cy="1933575"/>
          </a:xfrm>
          <a:custGeom>
            <a:avLst/>
            <a:gdLst/>
            <a:ahLst/>
            <a:cxnLst/>
            <a:rect l="l" t="t" r="r" b="b"/>
            <a:pathLst>
              <a:path w="1962150" h="1933575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648386" y="4861024"/>
            <a:ext cx="4850456" cy="45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98">
                <a:solidFill>
                  <a:srgbClr val="24C2D6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Khoảng trống nghiên cứu: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3756" y="5352284"/>
            <a:ext cx="6992410" cy="129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phương pháp truyền thống chủ yếu dựa vào thống kê và quan sát, chưa khai thác hết tiềm</a:t>
            </a:r>
          </a:p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năng của công nghệ hiện đại.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6775" y="6858000"/>
            <a:ext cx="11115675" cy="3000375"/>
          </a:xfrm>
          <a:custGeom>
            <a:avLst/>
            <a:gdLst/>
            <a:ahLst/>
            <a:cxnLst/>
            <a:rect l="l" t="t" r="r" b="b"/>
            <a:pathLst>
              <a:path w="11115675" h="3000375">
                <a:moveTo>
                  <a:pt x="0" y="0"/>
                </a:moveTo>
                <a:lnTo>
                  <a:pt x="11115675" y="0"/>
                </a:lnTo>
                <a:lnTo>
                  <a:pt x="111156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85850" y="7286625"/>
            <a:ext cx="1962150" cy="1933575"/>
          </a:xfrm>
          <a:custGeom>
            <a:avLst/>
            <a:gdLst/>
            <a:ahLst/>
            <a:cxnLst/>
            <a:rect l="l" t="t" r="r" b="b"/>
            <a:pathLst>
              <a:path w="1962150" h="1933575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697401" y="7287109"/>
            <a:ext cx="2627887" cy="45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98">
                <a:solidFill>
                  <a:srgbClr val="24C2D6">
                    <a:alpha val="8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Tính cấp thiết: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47938" y="7733162"/>
            <a:ext cx="7574123" cy="129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75" spc="-103">
                <a:solidFill>
                  <a:srgbClr val="FFFFFF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cho phép tích hợp dữ liệu đa nguồn, phân tích không gian – thời gian, mô phỏng và trực quan hóa phạm vi ngập lụt, từ đó nâng cao hiệu quả quản lý rủi ro thiên tai.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496925" y="5143500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325850" y="363855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7411700" y="514350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325850" y="663892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010775" y="19240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753850" y="9429750"/>
            <a:ext cx="3057525" cy="428625"/>
          </a:xfrm>
          <a:custGeom>
            <a:avLst/>
            <a:gdLst/>
            <a:ahLst/>
            <a:cxnLst/>
            <a:rect l="l" t="t" r="r" b="b"/>
            <a:pathLst>
              <a:path w="3057525" h="428625">
                <a:moveTo>
                  <a:pt x="0" y="0"/>
                </a:moveTo>
                <a:lnTo>
                  <a:pt x="3057525" y="0"/>
                </a:lnTo>
                <a:lnTo>
                  <a:pt x="3057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1371" y="758893"/>
            <a:ext cx="4230102" cy="100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1" spc="-546">
                <a:solidFill>
                  <a:srgbClr val="0527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II. Mục tiêu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171450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7700" y="2143125"/>
            <a:ext cx="12420600" cy="2362200"/>
          </a:xfrm>
          <a:custGeom>
            <a:avLst/>
            <a:gdLst/>
            <a:ahLst/>
            <a:cxnLst/>
            <a:rect l="l" t="t" r="r" b="b"/>
            <a:pathLst>
              <a:path w="12420600" h="2362200">
                <a:moveTo>
                  <a:pt x="0" y="0"/>
                </a:moveTo>
                <a:lnTo>
                  <a:pt x="12420600" y="0"/>
                </a:lnTo>
                <a:lnTo>
                  <a:pt x="12420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5850" y="257175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236542" y="2539116"/>
            <a:ext cx="3172351" cy="43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1" spc="-238">
                <a:solidFill>
                  <a:srgbClr val="20A6B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 tổng quát: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8804" y="3046730"/>
            <a:ext cx="7909475" cy="8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18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GIS để nghiên cứu, mô phỏng và đánh giá tác động của lũ lụt, phục vụ công tác phòng chống và quy hoạch.</a:t>
            </a:r>
          </a:p>
        </p:txBody>
      </p:sp>
      <p:sp>
        <p:nvSpPr>
          <p:cNvPr id="9" name="Freeform 9"/>
          <p:cNvSpPr/>
          <p:nvPr/>
        </p:nvSpPr>
        <p:spPr>
          <a:xfrm>
            <a:off x="11534775" y="2571750"/>
            <a:ext cx="1095375" cy="1504950"/>
          </a:xfrm>
          <a:custGeom>
            <a:avLst/>
            <a:gdLst/>
            <a:ahLst/>
            <a:cxnLst/>
            <a:rect l="l" t="t" r="r" b="b"/>
            <a:pathLst>
              <a:path w="1095375" h="1504950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66775" y="4495800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02024" y="4770444"/>
            <a:ext cx="2495304" cy="392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 spc="-217">
                <a:solidFill>
                  <a:srgbClr val="0527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 cụ thể:</a:t>
            </a:r>
          </a:p>
        </p:txBody>
      </p:sp>
      <p:sp>
        <p:nvSpPr>
          <p:cNvPr id="12" name="Freeform 12"/>
          <p:cNvSpPr/>
          <p:nvPr/>
        </p:nvSpPr>
        <p:spPr>
          <a:xfrm>
            <a:off x="2171700" y="5353050"/>
            <a:ext cx="8934450" cy="219075"/>
          </a:xfrm>
          <a:custGeom>
            <a:avLst/>
            <a:gdLst/>
            <a:ahLst/>
            <a:cxnLst/>
            <a:rect l="l" t="t" r="r" b="b"/>
            <a:pathLst>
              <a:path w="8934450" h="219075">
                <a:moveTo>
                  <a:pt x="0" y="0"/>
                </a:moveTo>
                <a:lnTo>
                  <a:pt x="8934450" y="0"/>
                </a:lnTo>
                <a:lnTo>
                  <a:pt x="893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47700" y="6000750"/>
            <a:ext cx="3276600" cy="3857625"/>
          </a:xfrm>
          <a:custGeom>
            <a:avLst/>
            <a:gdLst/>
            <a:ahLst/>
            <a:cxnLst/>
            <a:rect l="l" t="t" r="r" b="b"/>
            <a:pathLst>
              <a:path w="3276600" h="3857625">
                <a:moveTo>
                  <a:pt x="0" y="0"/>
                </a:moveTo>
                <a:lnTo>
                  <a:pt x="3276600" y="0"/>
                </a:lnTo>
                <a:lnTo>
                  <a:pt x="32766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952625" y="557212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33550" y="6638925"/>
            <a:ext cx="1104900" cy="1076325"/>
          </a:xfrm>
          <a:custGeom>
            <a:avLst/>
            <a:gdLst/>
            <a:ahLst/>
            <a:cxnLst/>
            <a:rect l="l" t="t" r="r" b="b"/>
            <a:pathLst>
              <a:path w="1104900" h="1076325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23182" y="7892877"/>
            <a:ext cx="2680452" cy="106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cơ sở dữ liệu GIS về địa hình, thủy văn, dân cư, hạ tầng.</a:t>
            </a:r>
          </a:p>
        </p:txBody>
      </p:sp>
      <p:sp>
        <p:nvSpPr>
          <p:cNvPr id="17" name="Freeform 17"/>
          <p:cNvSpPr/>
          <p:nvPr/>
        </p:nvSpPr>
        <p:spPr>
          <a:xfrm>
            <a:off x="3695700" y="6000750"/>
            <a:ext cx="3057525" cy="3857625"/>
          </a:xfrm>
          <a:custGeom>
            <a:avLst/>
            <a:gdLst/>
            <a:ahLst/>
            <a:cxnLst/>
            <a:rect l="l" t="t" r="r" b="b"/>
            <a:pathLst>
              <a:path w="3057525" h="3857625">
                <a:moveTo>
                  <a:pt x="0" y="0"/>
                </a:moveTo>
                <a:lnTo>
                  <a:pt x="3057525" y="0"/>
                </a:lnTo>
                <a:lnTo>
                  <a:pt x="3057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4781550" y="557212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4781550" y="6638925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4166587" y="7892876"/>
            <a:ext cx="2033658" cy="106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phỏng phạm vi</a:t>
            </a:r>
          </a:p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ngập lụt theo các</a:t>
            </a:r>
          </a:p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kịch bản mưa lũ.</a:t>
            </a:r>
          </a:p>
        </p:txBody>
      </p:sp>
      <p:sp>
        <p:nvSpPr>
          <p:cNvPr id="21" name="Freeform 21"/>
          <p:cNvSpPr/>
          <p:nvPr/>
        </p:nvSpPr>
        <p:spPr>
          <a:xfrm>
            <a:off x="6524625" y="6000750"/>
            <a:ext cx="3057525" cy="3857625"/>
          </a:xfrm>
          <a:custGeom>
            <a:avLst/>
            <a:gdLst/>
            <a:ahLst/>
            <a:cxnLst/>
            <a:rect l="l" t="t" r="r" b="b"/>
            <a:pathLst>
              <a:path w="3057525" h="3857625">
                <a:moveTo>
                  <a:pt x="0" y="0"/>
                </a:moveTo>
                <a:lnTo>
                  <a:pt x="3057525" y="0"/>
                </a:lnTo>
                <a:lnTo>
                  <a:pt x="3057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7620000" y="55721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7620000" y="66389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915115" y="7892877"/>
            <a:ext cx="2353579" cy="106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vùng nguy cơ ngập lụt và đánh giá tác động đến kinh tế – xã hội.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572625" y="6000750"/>
            <a:ext cx="3057525" cy="3857625"/>
          </a:xfrm>
          <a:custGeom>
            <a:avLst/>
            <a:gdLst/>
            <a:ahLst/>
            <a:cxnLst/>
            <a:rect l="l" t="t" r="r" b="b"/>
            <a:pathLst>
              <a:path w="3057525" h="3857625">
                <a:moveTo>
                  <a:pt x="0" y="0"/>
                </a:moveTo>
                <a:lnTo>
                  <a:pt x="3057525" y="0"/>
                </a:lnTo>
                <a:lnTo>
                  <a:pt x="3057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0668000" y="55721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668000" y="663892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9845202" y="7892876"/>
            <a:ext cx="2463615" cy="106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047" spc="-153">
                <a:solidFill>
                  <a:srgbClr val="0527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 xuất giải pháp quản lý, quy hoạch và giảm thiểu rủi ro.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058775" y="638175"/>
            <a:ext cx="5229225" cy="6438900"/>
          </a:xfrm>
          <a:custGeom>
            <a:avLst/>
            <a:gdLst/>
            <a:ahLst/>
            <a:cxnLst/>
            <a:rect l="l" t="t" r="r" b="b"/>
            <a:pathLst>
              <a:path w="5229225" h="6438900">
                <a:moveTo>
                  <a:pt x="0" y="0"/>
                </a:moveTo>
                <a:lnTo>
                  <a:pt x="5229225" y="0"/>
                </a:lnTo>
                <a:lnTo>
                  <a:pt x="5229225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5090505" y="5921108"/>
            <a:ext cx="387275" cy="35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spc="-19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68916" y="5921108"/>
            <a:ext cx="403328" cy="35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spc="-19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54147" y="5921108"/>
            <a:ext cx="392851" cy="35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spc="-19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51729" y="5921108"/>
            <a:ext cx="317655" cy="35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spc="-19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36245" y="493016"/>
            <a:ext cx="12100458" cy="1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1"/>
              </a:lnSpc>
            </a:pP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dựng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sở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liệu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GIS</a:t>
            </a:r>
          </a:p>
          <a:p>
            <a:pPr algn="l">
              <a:lnSpc>
                <a:spcPts val="6281"/>
              </a:lnSpc>
            </a:pP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về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địa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thủy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văn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5868" b="1" spc="-292" dirty="0" err="1" smtClean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dân</a:t>
            </a:r>
            <a:r>
              <a:rPr lang="en-US" sz="5868" b="1" spc="-292" dirty="0" smtClean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cư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hạ</a:t>
            </a:r>
            <a:r>
              <a:rPr lang="en-US" sz="5868" b="1" spc="-292" dirty="0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868" b="1" spc="-292" dirty="0" err="1">
                <a:solidFill>
                  <a:srgbClr val="0D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tầng</a:t>
            </a:r>
            <a:endParaRPr lang="en-US" sz="5868" b="1" spc="-292" dirty="0">
              <a:solidFill>
                <a:srgbClr val="0D2F5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45330" y="2350377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5330" y="2569017"/>
            <a:ext cx="7197072" cy="7291635"/>
          </a:xfrm>
          <a:custGeom>
            <a:avLst/>
            <a:gdLst/>
            <a:ahLst/>
            <a:cxnLst/>
            <a:rect l="l" t="t" r="r" b="b"/>
            <a:pathLst>
              <a:path w="7197072" h="7291635">
                <a:moveTo>
                  <a:pt x="0" y="0"/>
                </a:moveTo>
                <a:lnTo>
                  <a:pt x="7197072" y="0"/>
                </a:lnTo>
                <a:lnTo>
                  <a:pt x="7197072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87732" y="2569017"/>
            <a:ext cx="9491083" cy="2484599"/>
          </a:xfrm>
          <a:custGeom>
            <a:avLst/>
            <a:gdLst/>
            <a:ahLst/>
            <a:cxnLst/>
            <a:rect l="l" t="t" r="r" b="b"/>
            <a:pathLst>
              <a:path w="9491083" h="2484599">
                <a:moveTo>
                  <a:pt x="0" y="0"/>
                </a:moveTo>
                <a:lnTo>
                  <a:pt x="9491083" y="0"/>
                </a:lnTo>
                <a:lnTo>
                  <a:pt x="9491083" y="2484599"/>
                </a:lnTo>
                <a:lnTo>
                  <a:pt x="0" y="248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497" b="-161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06488" y="2776725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997838" y="2665723"/>
            <a:ext cx="1246694" cy="458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137">
                <a:solidFill>
                  <a:srgbClr val="1584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nghĩa: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2840" y="3086534"/>
            <a:ext cx="6246460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nền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tảng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mọi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sở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GIS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(DEM),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thủy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mực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 smtClean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</a:t>
            </a:r>
            <a:r>
              <a:rPr lang="en-US" sz="2427" spc="-120" dirty="0" err="1" smtClean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</a:t>
            </a:r>
            <a:r>
              <a:rPr lang="en-US" sz="2427" spc="-120" dirty="0" smtClean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chảy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mật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bố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tầng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viện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27" spc="-120" dirty="0" err="1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2427" spc="-120" dirty="0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487732" y="5356674"/>
            <a:ext cx="9491083" cy="2153601"/>
          </a:xfrm>
          <a:custGeom>
            <a:avLst/>
            <a:gdLst/>
            <a:ahLst/>
            <a:cxnLst/>
            <a:rect l="l" t="t" r="r" b="b"/>
            <a:pathLst>
              <a:path w="9491083" h="2153601">
                <a:moveTo>
                  <a:pt x="0" y="0"/>
                </a:moveTo>
                <a:lnTo>
                  <a:pt x="9491083" y="0"/>
                </a:lnTo>
                <a:lnTo>
                  <a:pt x="9491083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04" b="-31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706488" y="55643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993511" y="5753195"/>
            <a:ext cx="1679397" cy="458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137">
                <a:solidFill>
                  <a:srgbClr val="1584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10305" y="6306563"/>
            <a:ext cx="5973961" cy="75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115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 dữ liệu GIS chuẩn hóa, có thể cập nhật và</a:t>
            </a:r>
          </a:p>
          <a:p>
            <a:pPr algn="l">
              <a:lnSpc>
                <a:spcPts val="3017"/>
              </a:lnSpc>
            </a:pPr>
            <a:r>
              <a:rPr lang="en-US" sz="2321" spc="-115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chia sẻ cho nhiều nghiên cứu khác.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487732" y="7707051"/>
            <a:ext cx="9491083" cy="1945894"/>
          </a:xfrm>
          <a:custGeom>
            <a:avLst/>
            <a:gdLst/>
            <a:ahLst/>
            <a:cxnLst/>
            <a:rect l="l" t="t" r="r" b="b"/>
            <a:pathLst>
              <a:path w="9491083" h="1945894">
                <a:moveTo>
                  <a:pt x="0" y="0"/>
                </a:moveTo>
                <a:lnTo>
                  <a:pt x="9491083" y="0"/>
                </a:lnTo>
                <a:lnTo>
                  <a:pt x="9491083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104" b="-31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706488" y="7707051"/>
            <a:ext cx="1750048" cy="1945894"/>
          </a:xfrm>
          <a:custGeom>
            <a:avLst/>
            <a:gdLst/>
            <a:ahLst/>
            <a:cxnLst/>
            <a:rect l="l" t="t" r="r" b="b"/>
            <a:pathLst>
              <a:path w="1750048" h="1945894">
                <a:moveTo>
                  <a:pt x="0" y="0"/>
                </a:moveTo>
                <a:lnTo>
                  <a:pt x="1750048" y="0"/>
                </a:lnTo>
                <a:lnTo>
                  <a:pt x="175004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994746" y="7967139"/>
            <a:ext cx="1555839" cy="458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137">
                <a:solidFill>
                  <a:srgbClr val="1584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Tác động: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10305" y="8505446"/>
            <a:ext cx="5973961" cy="75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115">
                <a:solidFill>
                  <a:srgbClr val="0D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quản lý dữ liệu thiên tai tập trung, dễ dàng truy xuất và phân tích.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4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34418" y="375265"/>
            <a:ext cx="9604248" cy="183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068" b="1" spc="-364">
                <a:solidFill>
                  <a:srgbClr val="0C2F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Mô phỏng phạm vi ngập lụt theo các kịch bản mưa lũ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2142670"/>
            <a:ext cx="1104718" cy="218640"/>
          </a:xfrm>
          <a:custGeom>
            <a:avLst/>
            <a:gdLst/>
            <a:ahLst/>
            <a:cxnLst/>
            <a:rect l="l" t="t" r="r" b="b"/>
            <a:pathLst>
              <a:path w="1104718" h="218640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8072096" cy="7083928"/>
          </a:xfrm>
          <a:custGeom>
            <a:avLst/>
            <a:gdLst/>
            <a:ahLst/>
            <a:cxnLst/>
            <a:rect l="l" t="t" r="r" b="b"/>
            <a:pathLst>
              <a:path w="8072096" h="7083928">
                <a:moveTo>
                  <a:pt x="0" y="0"/>
                </a:moveTo>
                <a:lnTo>
                  <a:pt x="8072096" y="0"/>
                </a:lnTo>
                <a:lnTo>
                  <a:pt x="8072096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64086" y="2569017"/>
            <a:ext cx="7853340" cy="6865288"/>
          </a:xfrm>
          <a:custGeom>
            <a:avLst/>
            <a:gdLst/>
            <a:ahLst/>
            <a:cxnLst/>
            <a:rect l="l" t="t" r="r" b="b"/>
            <a:pathLst>
              <a:path w="7853340" h="6865288">
                <a:moveTo>
                  <a:pt x="0" y="0"/>
                </a:moveTo>
                <a:lnTo>
                  <a:pt x="7853340" y="0"/>
                </a:lnTo>
                <a:lnTo>
                  <a:pt x="7853340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961531" y="3742389"/>
            <a:ext cx="8498670" cy="1945894"/>
          </a:xfrm>
          <a:custGeom>
            <a:avLst/>
            <a:gdLst/>
            <a:ahLst/>
            <a:cxnLst/>
            <a:rect l="l" t="t" r="r" b="b"/>
            <a:pathLst>
              <a:path w="8498670" h="1945894">
                <a:moveTo>
                  <a:pt x="0" y="0"/>
                </a:moveTo>
                <a:lnTo>
                  <a:pt x="8498670" y="0"/>
                </a:lnTo>
                <a:lnTo>
                  <a:pt x="849867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199929" y="4076833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944777" y="4022462"/>
            <a:ext cx="1194970" cy="46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b="1" spc="-162" dirty="0">
                <a:solidFill>
                  <a:srgbClr val="24A9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</a:t>
            </a:r>
            <a:r>
              <a:rPr lang="en-US" sz="2707" b="1" spc="-162" dirty="0" err="1">
                <a:solidFill>
                  <a:srgbClr val="24A9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nghĩa</a:t>
            </a:r>
            <a:r>
              <a:rPr lang="en-US" sz="2707" b="1" spc="-162" dirty="0">
                <a:solidFill>
                  <a:srgbClr val="24A9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92708" y="4500205"/>
            <a:ext cx="6401709" cy="70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phỏng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phạm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ngập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endParaRPr lang="en-US" sz="2047" spc="-122" dirty="0">
              <a:solidFill>
                <a:srgbClr val="0C2F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867"/>
              </a:lnSpc>
            </a:pP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huống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nhau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bão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biển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47" spc="-122" dirty="0" err="1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2047" spc="-122" dirty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925244" y="5783021"/>
            <a:ext cx="8498670" cy="1934962"/>
          </a:xfrm>
          <a:custGeom>
            <a:avLst/>
            <a:gdLst/>
            <a:ahLst/>
            <a:cxnLst/>
            <a:rect l="l" t="t" r="r" b="b"/>
            <a:pathLst>
              <a:path w="8498670" h="1934962">
                <a:moveTo>
                  <a:pt x="0" y="0"/>
                </a:moveTo>
                <a:lnTo>
                  <a:pt x="8498670" y="0"/>
                </a:lnTo>
                <a:lnTo>
                  <a:pt x="849867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144000" y="5990729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941035" y="5990462"/>
            <a:ext cx="1569143" cy="46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b="1" spc="-162">
                <a:solidFill>
                  <a:srgbClr val="24A9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6727" y="6494490"/>
            <a:ext cx="6402586" cy="78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9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 đồ ngập lụt theo từng kịch bản,</a:t>
            </a:r>
          </a:p>
          <a:p>
            <a:pPr algn="l">
              <a:lnSpc>
                <a:spcPts val="3157"/>
              </a:lnSpc>
            </a:pPr>
            <a:r>
              <a:rPr lang="en-US" sz="2254" spc="-9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 kê diện tích ngập.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925244" y="7499343"/>
            <a:ext cx="8498670" cy="1934962"/>
          </a:xfrm>
          <a:custGeom>
            <a:avLst/>
            <a:gdLst/>
            <a:ahLst/>
            <a:cxnLst/>
            <a:rect l="l" t="t" r="r" b="b"/>
            <a:pathLst>
              <a:path w="8498670" h="1934962">
                <a:moveTo>
                  <a:pt x="0" y="0"/>
                </a:moveTo>
                <a:lnTo>
                  <a:pt x="8498670" y="0"/>
                </a:lnTo>
                <a:lnTo>
                  <a:pt x="849867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144000" y="7707051"/>
            <a:ext cx="1312536" cy="150861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942323" y="7782702"/>
            <a:ext cx="1440371" cy="46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b="1" spc="-162">
                <a:solidFill>
                  <a:srgbClr val="24A9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Tác động: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5611" y="8254285"/>
            <a:ext cx="5111535" cy="78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84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 trợ cơ quan quản lý chuẩn bị phương án</a:t>
            </a:r>
          </a:p>
          <a:p>
            <a:pPr algn="l">
              <a:lnSpc>
                <a:spcPts val="3164"/>
              </a:lnSpc>
            </a:pPr>
            <a:r>
              <a:rPr lang="en-US" sz="2109" spc="-84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phó, sơ tán dân cư.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56727" y="4973903"/>
            <a:ext cx="6402586" cy="37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90" dirty="0" smtClean="0">
                <a:solidFill>
                  <a:srgbClr val="0C2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254" spc="-90" dirty="0">
              <a:solidFill>
                <a:srgbClr val="0C2F5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8722" y="350679"/>
            <a:ext cx="11742630" cy="181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5"/>
              </a:lnSpc>
            </a:pPr>
            <a:r>
              <a:rPr lang="en-US" sz="5969" b="1" spc="-416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vùng nguy cơ ngập lụt và</a:t>
            </a:r>
          </a:p>
          <a:p>
            <a:pPr algn="l">
              <a:lnSpc>
                <a:spcPts val="7165"/>
              </a:lnSpc>
            </a:pPr>
            <a:r>
              <a:rPr lang="en-US" sz="5969" b="1" spc="-416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 giá tác động đến kinh tế – xã hội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142670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5330" y="2569017"/>
            <a:ext cx="8290852" cy="7291635"/>
          </a:xfrm>
          <a:custGeom>
            <a:avLst/>
            <a:gdLst/>
            <a:ahLst/>
            <a:cxnLst/>
            <a:rect l="l" t="t" r="r" b="b"/>
            <a:pathLst>
              <a:path w="8290852" h="7291635">
                <a:moveTo>
                  <a:pt x="0" y="0"/>
                </a:moveTo>
                <a:lnTo>
                  <a:pt x="8290852" y="0"/>
                </a:lnTo>
                <a:lnTo>
                  <a:pt x="8290852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64086" y="6428009"/>
            <a:ext cx="1968804" cy="3224936"/>
          </a:xfrm>
          <a:custGeom>
            <a:avLst/>
            <a:gdLst/>
            <a:ahLst/>
            <a:cxnLst/>
            <a:rect l="l" t="t" r="r" b="b"/>
            <a:pathLst>
              <a:path w="1968804" h="3224936">
                <a:moveTo>
                  <a:pt x="0" y="0"/>
                </a:moveTo>
                <a:lnTo>
                  <a:pt x="1968804" y="0"/>
                </a:lnTo>
                <a:lnTo>
                  <a:pt x="196880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83489" y="6746000"/>
            <a:ext cx="1486284" cy="268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2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MỨC NGUY CƠ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7280704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82842" y="7707051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2842" y="8133399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82842" y="835203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2842" y="8778386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351818" y="2350377"/>
            <a:ext cx="7415828" cy="1727254"/>
          </a:xfrm>
          <a:custGeom>
            <a:avLst/>
            <a:gdLst/>
            <a:ahLst/>
            <a:cxnLst/>
            <a:rect l="l" t="t" r="r" b="b"/>
            <a:pathLst>
              <a:path w="7415828" h="1727254">
                <a:moveTo>
                  <a:pt x="0" y="0"/>
                </a:moveTo>
                <a:lnTo>
                  <a:pt x="7415828" y="0"/>
                </a:lnTo>
                <a:lnTo>
                  <a:pt x="7415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351818" y="2350377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570574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132595" y="2498843"/>
            <a:ext cx="1165453" cy="41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 spc="-185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nghĩa: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01415" y="2976457"/>
            <a:ext cx="4283515" cy="102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168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chỉ xác định vùng ngập, mà còn phân cấp nguy cơ (rất cao – cao – trung bình – thấp – rất thấp).</a:t>
            </a:r>
          </a:p>
        </p:txBody>
      </p:sp>
      <p:sp>
        <p:nvSpPr>
          <p:cNvPr id="18" name="Freeform 18"/>
          <p:cNvSpPr/>
          <p:nvPr/>
        </p:nvSpPr>
        <p:spPr>
          <a:xfrm>
            <a:off x="9351818" y="4066699"/>
            <a:ext cx="7415828" cy="1727254"/>
          </a:xfrm>
          <a:custGeom>
            <a:avLst/>
            <a:gdLst/>
            <a:ahLst/>
            <a:cxnLst/>
            <a:rect l="l" t="t" r="r" b="b"/>
            <a:pathLst>
              <a:path w="7415828" h="1727254">
                <a:moveTo>
                  <a:pt x="0" y="0"/>
                </a:moveTo>
                <a:lnTo>
                  <a:pt x="7415828" y="0"/>
                </a:lnTo>
                <a:lnTo>
                  <a:pt x="7415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351818" y="4066699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789330" y="4285339"/>
            <a:ext cx="667206" cy="1082267"/>
          </a:xfrm>
          <a:custGeom>
            <a:avLst/>
            <a:gdLst/>
            <a:ahLst/>
            <a:cxnLst/>
            <a:rect l="l" t="t" r="r" b="b"/>
            <a:pathLst>
              <a:path w="667206" h="1082267">
                <a:moveTo>
                  <a:pt x="0" y="0"/>
                </a:moveTo>
                <a:lnTo>
                  <a:pt x="667206" y="0"/>
                </a:lnTo>
                <a:lnTo>
                  <a:pt x="66720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128834" y="4306144"/>
            <a:ext cx="1541555" cy="41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 spc="-185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04721" y="4753636"/>
            <a:ext cx="3952881" cy="68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168" dirty="0" err="1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109" spc="-168" dirty="0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109" spc="-168" dirty="0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lụt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2109" spc="-168" dirty="0" smtClean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endParaRPr lang="en-US" sz="2109" spc="-168" dirty="0">
              <a:solidFill>
                <a:srgbClr val="0C2D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741"/>
              </a:lnSpc>
            </a:pP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68" dirty="0" err="1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109" spc="-168" dirty="0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23" name="Freeform 23"/>
          <p:cNvSpPr/>
          <p:nvPr/>
        </p:nvSpPr>
        <p:spPr>
          <a:xfrm>
            <a:off x="9351818" y="5564382"/>
            <a:ext cx="7415828" cy="2798589"/>
          </a:xfrm>
          <a:custGeom>
            <a:avLst/>
            <a:gdLst/>
            <a:ahLst/>
            <a:cxnLst/>
            <a:rect l="l" t="t" r="r" b="b"/>
            <a:pathLst>
              <a:path w="7415828" h="2798589">
                <a:moveTo>
                  <a:pt x="0" y="0"/>
                </a:moveTo>
                <a:lnTo>
                  <a:pt x="7415828" y="0"/>
                </a:lnTo>
                <a:lnTo>
                  <a:pt x="741582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9716328" y="5812228"/>
            <a:ext cx="810155" cy="41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 spc="-185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Ví dụ:</a:t>
            </a:r>
          </a:p>
        </p:txBody>
      </p:sp>
      <p:sp>
        <p:nvSpPr>
          <p:cNvPr id="25" name="Freeform 25"/>
          <p:cNvSpPr/>
          <p:nvPr/>
        </p:nvSpPr>
        <p:spPr>
          <a:xfrm>
            <a:off x="9570574" y="620936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718219" y="6615940"/>
            <a:ext cx="5098442" cy="32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63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 Hóa: hơn 10.000 căn nhà ngập năm 2020.</a:t>
            </a:r>
          </a:p>
        </p:txBody>
      </p:sp>
      <p:sp>
        <p:nvSpPr>
          <p:cNvPr id="27" name="Freeform 27"/>
          <p:cNvSpPr/>
          <p:nvPr/>
        </p:nvSpPr>
        <p:spPr>
          <a:xfrm>
            <a:off x="9570574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716567" y="7594894"/>
            <a:ext cx="5263577" cy="32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63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Ninh Bình: hơn 11.000 ha lúa và hoa màu bị thiệt hại.</a:t>
            </a:r>
          </a:p>
        </p:txBody>
      </p:sp>
      <p:sp>
        <p:nvSpPr>
          <p:cNvPr id="29" name="Freeform 29"/>
          <p:cNvSpPr/>
          <p:nvPr/>
        </p:nvSpPr>
        <p:spPr>
          <a:xfrm>
            <a:off x="9351818" y="8352038"/>
            <a:ext cx="7415828" cy="1508614"/>
          </a:xfrm>
          <a:custGeom>
            <a:avLst/>
            <a:gdLst/>
            <a:ahLst/>
            <a:cxnLst/>
            <a:rect l="l" t="t" r="r" b="b"/>
            <a:pathLst>
              <a:path w="7415828" h="1508614">
                <a:moveTo>
                  <a:pt x="0" y="0"/>
                </a:moveTo>
                <a:lnTo>
                  <a:pt x="7415828" y="0"/>
                </a:lnTo>
                <a:lnTo>
                  <a:pt x="7415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351818" y="8352038"/>
            <a:ext cx="1760986" cy="1508614"/>
          </a:xfrm>
          <a:custGeom>
            <a:avLst/>
            <a:gdLst/>
            <a:ahLst/>
            <a:cxnLst/>
            <a:rect l="l" t="t" r="r" b="b"/>
            <a:pathLst>
              <a:path w="1760986" h="1508614">
                <a:moveTo>
                  <a:pt x="0" y="0"/>
                </a:moveTo>
                <a:lnTo>
                  <a:pt x="1760986" y="0"/>
                </a:lnTo>
                <a:lnTo>
                  <a:pt x="176098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570574" y="8570678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1022611" y="8508118"/>
            <a:ext cx="1448296" cy="41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 spc="-185">
                <a:solidFill>
                  <a:srgbClr val="0C2D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Tác động: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90523" y="8985732"/>
            <a:ext cx="4657108" cy="68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168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chính quyền ưu tiên nguồn lực bảo vệ khu vực nguy cơ cao, giảm thiểu thiệt hại.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32281" y="8176780"/>
            <a:ext cx="900835" cy="25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29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 bình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34470" y="9005126"/>
            <a:ext cx="681926" cy="25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29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 thấp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5061" y="7348434"/>
            <a:ext cx="622793" cy="25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29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 cao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36927" y="8583423"/>
            <a:ext cx="436158" cy="25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29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37829" y="7755077"/>
            <a:ext cx="346002" cy="25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29">
                <a:solidFill>
                  <a:srgbClr val="0C2D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5239" y="651895"/>
            <a:ext cx="16164394" cy="8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b="1" spc="-387">
                <a:solidFill>
                  <a:srgbClr val="09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Đề xuất giải pháp quản lý, quy hoạch và giảm thiểu rủi ro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1497682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14820718" cy="1934962"/>
          </a:xfrm>
          <a:custGeom>
            <a:avLst/>
            <a:gdLst/>
            <a:ahLst/>
            <a:cxnLst/>
            <a:rect l="l" t="t" r="r" b="b"/>
            <a:pathLst>
              <a:path w="14820718" h="1934962">
                <a:moveTo>
                  <a:pt x="0" y="0"/>
                </a:moveTo>
                <a:lnTo>
                  <a:pt x="14820718" y="0"/>
                </a:lnTo>
                <a:lnTo>
                  <a:pt x="1482071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01598" y="2142670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229317" y="2278466"/>
            <a:ext cx="1215909" cy="4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92">
                <a:solidFill>
                  <a:srgbClr val="1C9E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nghĩa: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0019" y="2830182"/>
            <a:ext cx="10145765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17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không chỉ dùng ở phân tích, mà còn cung cấp cơ sở khoa học cho giải pháp.</a:t>
            </a:r>
          </a:p>
        </p:txBody>
      </p:sp>
      <p:sp>
        <p:nvSpPr>
          <p:cNvPr id="9" name="Freeform 9"/>
          <p:cNvSpPr/>
          <p:nvPr/>
        </p:nvSpPr>
        <p:spPr>
          <a:xfrm>
            <a:off x="13716000" y="2142670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64086" y="3848060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85353" y="3889976"/>
            <a:ext cx="1483421" cy="4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92">
                <a:solidFill>
                  <a:srgbClr val="092F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Giải pháp: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4493047"/>
            <a:ext cx="3718852" cy="3443576"/>
          </a:xfrm>
          <a:custGeom>
            <a:avLst/>
            <a:gdLst/>
            <a:ahLst/>
            <a:cxnLst/>
            <a:rect l="l" t="t" r="r" b="b"/>
            <a:pathLst>
              <a:path w="3718852" h="3443576">
                <a:moveTo>
                  <a:pt x="0" y="0"/>
                </a:moveTo>
                <a:lnTo>
                  <a:pt x="3718852" y="0"/>
                </a:lnTo>
                <a:lnTo>
                  <a:pt x="371885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82842" y="4711687"/>
            <a:ext cx="2625072" cy="2153601"/>
          </a:xfrm>
          <a:custGeom>
            <a:avLst/>
            <a:gdLst/>
            <a:ahLst/>
            <a:cxnLst/>
            <a:rect l="l" t="t" r="r" b="b"/>
            <a:pathLst>
              <a:path w="2625072" h="2153601">
                <a:moveTo>
                  <a:pt x="0" y="0"/>
                </a:moveTo>
                <a:lnTo>
                  <a:pt x="2625072" y="0"/>
                </a:lnTo>
                <a:lnTo>
                  <a:pt x="2625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474973" y="6822771"/>
            <a:ext cx="1949773" cy="72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hoạch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đô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endParaRPr lang="en-US" sz="2179" spc="-152" dirty="0">
              <a:solidFill>
                <a:srgbClr val="092F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tránh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vùng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ngập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53244" y="4493047"/>
            <a:ext cx="3707914" cy="3443576"/>
          </a:xfrm>
          <a:custGeom>
            <a:avLst/>
            <a:gdLst/>
            <a:ahLst/>
            <a:cxnLst/>
            <a:rect l="l" t="t" r="r" b="b"/>
            <a:pathLst>
              <a:path w="3707914" h="3443576">
                <a:moveTo>
                  <a:pt x="0" y="0"/>
                </a:moveTo>
                <a:lnTo>
                  <a:pt x="3707914" y="0"/>
                </a:lnTo>
                <a:lnTo>
                  <a:pt x="370791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779818" y="5138034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149646" y="6822771"/>
            <a:ext cx="2174768" cy="72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dựng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chứa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trạm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bơm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50220" y="4493047"/>
            <a:ext cx="3707914" cy="3443576"/>
          </a:xfrm>
          <a:custGeom>
            <a:avLst/>
            <a:gdLst/>
            <a:ahLst/>
            <a:cxnLst/>
            <a:rect l="l" t="t" r="r" b="b"/>
            <a:pathLst>
              <a:path w="3707914" h="3443576">
                <a:moveTo>
                  <a:pt x="0" y="0"/>
                </a:moveTo>
                <a:lnTo>
                  <a:pt x="3707914" y="0"/>
                </a:lnTo>
                <a:lnTo>
                  <a:pt x="370791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706488" y="4919394"/>
            <a:ext cx="2625072" cy="1727254"/>
          </a:xfrm>
          <a:custGeom>
            <a:avLst/>
            <a:gdLst/>
            <a:ahLst/>
            <a:cxnLst/>
            <a:rect l="l" t="t" r="r" b="b"/>
            <a:pathLst>
              <a:path w="2625072" h="1727254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586924" y="6822771"/>
            <a:ext cx="2747571" cy="72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cảnh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sớm</a:t>
            </a:r>
            <a:endParaRPr lang="en-US" sz="2179" spc="-152" dirty="0">
              <a:solidFill>
                <a:srgbClr val="092F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941"/>
              </a:lnSpc>
            </a:pP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tán</a:t>
            </a:r>
            <a:r>
              <a:rPr lang="en-US" sz="2179" spc="-152" dirty="0" smtClean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79" spc="-152" dirty="0" err="1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2179" spc="-152" dirty="0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747196" y="4493047"/>
            <a:ext cx="3718852" cy="3443576"/>
          </a:xfrm>
          <a:custGeom>
            <a:avLst/>
            <a:gdLst/>
            <a:ahLst/>
            <a:cxnLst/>
            <a:rect l="l" t="t" r="r" b="b"/>
            <a:pathLst>
              <a:path w="3718852" h="3443576">
                <a:moveTo>
                  <a:pt x="0" y="0"/>
                </a:moveTo>
                <a:lnTo>
                  <a:pt x="3718852" y="0"/>
                </a:lnTo>
                <a:lnTo>
                  <a:pt x="371885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2622220" y="4711687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412520" y="6822771"/>
            <a:ext cx="2329426" cy="72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179" spc="-152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 cao nhận thức</a:t>
            </a:r>
          </a:p>
          <a:p>
            <a:pPr algn="ctr">
              <a:lnSpc>
                <a:spcPts val="2941"/>
              </a:lnSpc>
            </a:pPr>
            <a:r>
              <a:rPr lang="en-US" sz="2179" spc="-152">
                <a:solidFill>
                  <a:srgbClr val="092F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cộng đồng.</a:t>
            </a:r>
          </a:p>
        </p:txBody>
      </p:sp>
      <p:sp>
        <p:nvSpPr>
          <p:cNvPr id="24" name="Freeform 24"/>
          <p:cNvSpPr/>
          <p:nvPr/>
        </p:nvSpPr>
        <p:spPr>
          <a:xfrm>
            <a:off x="3915732" y="5783021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831464" y="5783021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528440" y="5783021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645330" y="8133399"/>
            <a:ext cx="13508182" cy="1727254"/>
          </a:xfrm>
          <a:custGeom>
            <a:avLst/>
            <a:gdLst/>
            <a:ahLst/>
            <a:cxnLst/>
            <a:rect l="l" t="t" r="r" b="b"/>
            <a:pathLst>
              <a:path w="13508182" h="1727254">
                <a:moveTo>
                  <a:pt x="0" y="0"/>
                </a:moveTo>
                <a:lnTo>
                  <a:pt x="13508182" y="0"/>
                </a:lnTo>
                <a:lnTo>
                  <a:pt x="13508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301598" y="8352038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958476" y="8468472"/>
            <a:ext cx="1511000" cy="4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92">
                <a:solidFill>
                  <a:srgbClr val="1C9E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Tác động: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86237" y="9020187"/>
            <a:ext cx="8734844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17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Giảm thiểu thiệt hại về người và tài sản, hướng tới phát triển bền vững.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403464" y="8352038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63655" y="469570"/>
            <a:ext cx="12382500" cy="82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 b="1" u="none" strike="noStrike" spc="-480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 Dữ liệu và khu vực nghiên cứu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142670"/>
            <a:ext cx="667206" cy="8144330"/>
          </a:xfrm>
          <a:custGeom>
            <a:avLst/>
            <a:gdLst/>
            <a:ahLst/>
            <a:cxnLst/>
            <a:rect l="l" t="t" r="r" b="b"/>
            <a:pathLst>
              <a:path w="667206" h="8144330">
                <a:moveTo>
                  <a:pt x="0" y="0"/>
                </a:moveTo>
                <a:lnTo>
                  <a:pt x="667206" y="0"/>
                </a:lnTo>
                <a:lnTo>
                  <a:pt x="667206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1598" y="1497682"/>
            <a:ext cx="12414402" cy="1934962"/>
          </a:xfrm>
          <a:custGeom>
            <a:avLst/>
            <a:gdLst/>
            <a:ahLst/>
            <a:cxnLst/>
            <a:rect l="l" t="t" r="r" b="b"/>
            <a:pathLst>
              <a:path w="12414402" h="1934962">
                <a:moveTo>
                  <a:pt x="0" y="0"/>
                </a:moveTo>
                <a:lnTo>
                  <a:pt x="12414402" y="0"/>
                </a:lnTo>
                <a:lnTo>
                  <a:pt x="1241440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20354" y="1705390"/>
            <a:ext cx="2625072" cy="1519546"/>
          </a:xfrm>
          <a:custGeom>
            <a:avLst/>
            <a:gdLst/>
            <a:ahLst/>
            <a:cxnLst/>
            <a:rect l="l" t="t" r="r" b="b"/>
            <a:pathLst>
              <a:path w="2625072" h="1519546">
                <a:moveTo>
                  <a:pt x="0" y="0"/>
                </a:moveTo>
                <a:lnTo>
                  <a:pt x="2625072" y="0"/>
                </a:lnTo>
                <a:lnTo>
                  <a:pt x="262507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572000" y="1705390"/>
            <a:ext cx="218756" cy="1300906"/>
          </a:xfrm>
          <a:custGeom>
            <a:avLst/>
            <a:gdLst/>
            <a:ahLst/>
            <a:cxnLst/>
            <a:rect l="l" t="t" r="r" b="b"/>
            <a:pathLst>
              <a:path w="218756" h="1300906">
                <a:moveTo>
                  <a:pt x="0" y="0"/>
                </a:moveTo>
                <a:lnTo>
                  <a:pt x="218756" y="0"/>
                </a:lnTo>
                <a:lnTo>
                  <a:pt x="21875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899526" y="2260071"/>
            <a:ext cx="5645090" cy="78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dốc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3164"/>
              </a:lnSpc>
            </a:pP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vùng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trùng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ngập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9" spc="-126" dirty="0" err="1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chảy</a:t>
            </a:r>
            <a:r>
              <a:rPr lang="en-US" sz="2109" spc="-126" dirty="0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9" name="Freeform 9"/>
          <p:cNvSpPr/>
          <p:nvPr/>
        </p:nvSpPr>
        <p:spPr>
          <a:xfrm>
            <a:off x="1301598" y="3214004"/>
            <a:ext cx="12414402" cy="1934962"/>
          </a:xfrm>
          <a:custGeom>
            <a:avLst/>
            <a:gdLst/>
            <a:ahLst/>
            <a:cxnLst/>
            <a:rect l="l" t="t" r="r" b="b"/>
            <a:pathLst>
              <a:path w="12414402" h="1934962">
                <a:moveTo>
                  <a:pt x="0" y="0"/>
                </a:moveTo>
                <a:lnTo>
                  <a:pt x="12414402" y="0"/>
                </a:lnTo>
                <a:lnTo>
                  <a:pt x="1241440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354" y="3421712"/>
            <a:ext cx="2406316" cy="1508614"/>
          </a:xfrm>
          <a:custGeom>
            <a:avLst/>
            <a:gdLst/>
            <a:ahLst/>
            <a:cxnLst/>
            <a:rect l="l" t="t" r="r" b="b"/>
            <a:pathLst>
              <a:path w="2406316" h="1508614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572000" y="3421712"/>
            <a:ext cx="218756" cy="1508614"/>
          </a:xfrm>
          <a:custGeom>
            <a:avLst/>
            <a:gdLst/>
            <a:ahLst/>
            <a:cxnLst/>
            <a:rect l="l" t="t" r="r" b="b"/>
            <a:pathLst>
              <a:path w="218756" h="1508614">
                <a:moveTo>
                  <a:pt x="0" y="0"/>
                </a:moveTo>
                <a:lnTo>
                  <a:pt x="218756" y="0"/>
                </a:lnTo>
                <a:lnTo>
                  <a:pt x="21875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919443" y="3545834"/>
            <a:ext cx="3653385" cy="4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149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 liệu khí tượng – thủy văn: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97354" y="4016542"/>
            <a:ext cx="5862304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gồm lượng mưa, mực nước sông, lưu lượng dòng chảy.</a:t>
            </a:r>
          </a:p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cơ sở để mô phỏng các kịch bản lũ.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01598" y="4919394"/>
            <a:ext cx="12414402" cy="1945894"/>
          </a:xfrm>
          <a:custGeom>
            <a:avLst/>
            <a:gdLst/>
            <a:ahLst/>
            <a:cxnLst/>
            <a:rect l="l" t="t" r="r" b="b"/>
            <a:pathLst>
              <a:path w="12414402" h="1945894">
                <a:moveTo>
                  <a:pt x="0" y="0"/>
                </a:moveTo>
                <a:lnTo>
                  <a:pt x="12414402" y="0"/>
                </a:lnTo>
                <a:lnTo>
                  <a:pt x="1241440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957866" y="513803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572000" y="5138034"/>
            <a:ext cx="218756" cy="1508614"/>
          </a:xfrm>
          <a:custGeom>
            <a:avLst/>
            <a:gdLst/>
            <a:ahLst/>
            <a:cxnLst/>
            <a:rect l="l" t="t" r="r" b="b"/>
            <a:pathLst>
              <a:path w="218756" h="1508614">
                <a:moveTo>
                  <a:pt x="0" y="0"/>
                </a:moveTo>
                <a:lnTo>
                  <a:pt x="218756" y="0"/>
                </a:lnTo>
                <a:lnTo>
                  <a:pt x="21875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926950" y="5277831"/>
            <a:ext cx="2902668" cy="4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149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Ảnh vệ tinh Sentinel-1: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91439" y="5748539"/>
            <a:ext cx="6453774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Radar xuyên mậy, phát hiện vùng ngập ngay cả khi thời tiết xấu.</a:t>
            </a:r>
          </a:p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phép so sánh ảnh trước và sau lũ để nhận diện phạm vi ngập.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01598" y="6635716"/>
            <a:ext cx="12414402" cy="1945894"/>
          </a:xfrm>
          <a:custGeom>
            <a:avLst/>
            <a:gdLst/>
            <a:ahLst/>
            <a:cxnLst/>
            <a:rect l="l" t="t" r="r" b="b"/>
            <a:pathLst>
              <a:path w="12414402" h="1945894">
                <a:moveTo>
                  <a:pt x="0" y="0"/>
                </a:moveTo>
                <a:lnTo>
                  <a:pt x="12414402" y="0"/>
                </a:lnTo>
                <a:lnTo>
                  <a:pt x="1241440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01598" y="6854356"/>
            <a:ext cx="3062584" cy="1727254"/>
          </a:xfrm>
          <a:custGeom>
            <a:avLst/>
            <a:gdLst/>
            <a:ahLst/>
            <a:cxnLst/>
            <a:rect l="l" t="t" r="r" b="b"/>
            <a:pathLst>
              <a:path w="3062584" h="1727254">
                <a:moveTo>
                  <a:pt x="0" y="0"/>
                </a:moveTo>
                <a:lnTo>
                  <a:pt x="3062584" y="0"/>
                </a:lnTo>
                <a:lnTo>
                  <a:pt x="306258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4572000" y="7062064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4909083" y="6994766"/>
            <a:ext cx="4689357" cy="4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149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Bản đồ sử dụng đất, dân cư, hạ tầng: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82300" y="7450414"/>
            <a:ext cx="7367644" cy="70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định khu vực dân cư, đất nông nghiệp, công trình hạ tầng bị ảnh hưởng.</a:t>
            </a:r>
          </a:p>
          <a:p>
            <a:pPr algn="l">
              <a:lnSpc>
                <a:spcPts val="2874"/>
              </a:lnSpc>
            </a:pPr>
            <a:r>
              <a:rPr lang="en-US" sz="1916" spc="-115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đánh giá tác động kinh tế – xã hội.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01598" y="8352038"/>
            <a:ext cx="12414402" cy="1934962"/>
          </a:xfrm>
          <a:custGeom>
            <a:avLst/>
            <a:gdLst/>
            <a:ahLst/>
            <a:cxnLst/>
            <a:rect l="l" t="t" r="r" b="b"/>
            <a:pathLst>
              <a:path w="12414402" h="1934962">
                <a:moveTo>
                  <a:pt x="0" y="0"/>
                </a:moveTo>
                <a:lnTo>
                  <a:pt x="12414402" y="0"/>
                </a:lnTo>
                <a:lnTo>
                  <a:pt x="1241440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301598" y="8352038"/>
            <a:ext cx="3270402" cy="1934962"/>
          </a:xfrm>
          <a:custGeom>
            <a:avLst/>
            <a:gdLst/>
            <a:ahLst/>
            <a:cxnLst/>
            <a:rect l="l" t="t" r="r" b="b"/>
            <a:pathLst>
              <a:path w="3270402" h="1934962">
                <a:moveTo>
                  <a:pt x="0" y="0"/>
                </a:moveTo>
                <a:lnTo>
                  <a:pt x="3270402" y="0"/>
                </a:lnTo>
                <a:lnTo>
                  <a:pt x="327040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4572000" y="8570678"/>
            <a:ext cx="218756" cy="1289974"/>
          </a:xfrm>
          <a:custGeom>
            <a:avLst/>
            <a:gdLst/>
            <a:ahLst/>
            <a:cxnLst/>
            <a:rect l="l" t="t" r="r" b="b"/>
            <a:pathLst>
              <a:path w="218756" h="1289974">
                <a:moveTo>
                  <a:pt x="0" y="0"/>
                </a:moveTo>
                <a:lnTo>
                  <a:pt x="218756" y="0"/>
                </a:lnTo>
                <a:lnTo>
                  <a:pt x="21875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4907385" y="8621337"/>
            <a:ext cx="4859192" cy="4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149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thống sông ngòi, hồ chứa, đê điêu: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79629" y="9052510"/>
            <a:ext cx="7634718" cy="78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126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Đóng vai trò điều tiết dòng chảy, ảnh hưởng trực tiếp đến phạm vi ngập.</a:t>
            </a:r>
          </a:p>
          <a:p>
            <a:pPr algn="l">
              <a:lnSpc>
                <a:spcPts val="3164"/>
              </a:lnSpc>
            </a:pPr>
            <a:r>
              <a:rPr lang="en-US" sz="2109" spc="-126">
                <a:solidFill>
                  <a:srgbClr val="1F38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Cân đưa vào mô hình để phản ánh thực tế.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497244" y="3421712"/>
            <a:ext cx="4790756" cy="6657580"/>
          </a:xfrm>
          <a:custGeom>
            <a:avLst/>
            <a:gdLst/>
            <a:ahLst/>
            <a:cxnLst/>
            <a:rect l="l" t="t" r="r" b="b"/>
            <a:pathLst>
              <a:path w="4790756" h="6657580">
                <a:moveTo>
                  <a:pt x="0" y="0"/>
                </a:moveTo>
                <a:lnTo>
                  <a:pt x="4790756" y="0"/>
                </a:lnTo>
                <a:lnTo>
                  <a:pt x="4790756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4917102" y="1768655"/>
            <a:ext cx="3887414" cy="4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149" dirty="0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 (Digital Elevation Model):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1500" y="1333500"/>
            <a:ext cx="66675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387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Dữ liệu sử dụng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69880" y="471059"/>
            <a:ext cx="12382500" cy="82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 b="1" u="none" strike="noStrike" spc="-418">
                <a:solidFill>
                  <a:srgbClr val="0F3C6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 Dữ liệu và khu vực nghiên cứu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6322048" cy="7291635"/>
          </a:xfrm>
          <a:custGeom>
            <a:avLst/>
            <a:gdLst/>
            <a:ahLst/>
            <a:cxnLst/>
            <a:rect l="l" t="t" r="r" b="b"/>
            <a:pathLst>
              <a:path w="6322048" h="7291635">
                <a:moveTo>
                  <a:pt x="0" y="0"/>
                </a:moveTo>
                <a:lnTo>
                  <a:pt x="6322048" y="0"/>
                </a:lnTo>
                <a:lnTo>
                  <a:pt x="6322048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259464" y="4066699"/>
            <a:ext cx="1312536" cy="229572"/>
          </a:xfrm>
          <a:custGeom>
            <a:avLst/>
            <a:gdLst/>
            <a:ahLst/>
            <a:cxnLst/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572000" y="3848060"/>
            <a:ext cx="1750048" cy="655919"/>
          </a:xfrm>
          <a:custGeom>
            <a:avLst/>
            <a:gdLst/>
            <a:ahLst/>
            <a:cxnLst/>
            <a:rect l="l" t="t" r="r" b="b"/>
            <a:pathLst>
              <a:path w="1750048" h="655919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762956" y="4015999"/>
            <a:ext cx="1316158" cy="36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b="1" spc="-13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sông Giang</a:t>
            </a:r>
          </a:p>
        </p:txBody>
      </p:sp>
      <p:sp>
        <p:nvSpPr>
          <p:cNvPr id="8" name="Freeform 8"/>
          <p:cNvSpPr/>
          <p:nvPr/>
        </p:nvSpPr>
        <p:spPr>
          <a:xfrm>
            <a:off x="3915732" y="5783021"/>
            <a:ext cx="1531292" cy="218640"/>
          </a:xfrm>
          <a:custGeom>
            <a:avLst/>
            <a:gdLst/>
            <a:ahLst/>
            <a:cxnLst/>
            <a:rect l="l" t="t" r="r" b="b"/>
            <a:pathLst>
              <a:path w="1531292" h="218640">
                <a:moveTo>
                  <a:pt x="0" y="0"/>
                </a:moveTo>
                <a:lnTo>
                  <a:pt x="1531292" y="0"/>
                </a:lnTo>
                <a:lnTo>
                  <a:pt x="153129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217330" y="5564382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502420" y="5657631"/>
            <a:ext cx="1889808" cy="36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271" b="1" spc="-13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sông Kiến Giang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8487732" y="1071335"/>
            <a:ext cx="2187560" cy="2787657"/>
          </a:xfrm>
          <a:custGeom>
            <a:avLst/>
            <a:gdLst/>
            <a:ahLst/>
            <a:cxnLst/>
            <a:rect l="l" t="t" r="r" b="b"/>
            <a:pathLst>
              <a:path w="2187560" h="2787657">
                <a:moveTo>
                  <a:pt x="0" y="0"/>
                </a:moveTo>
                <a:lnTo>
                  <a:pt x="2187560" y="0"/>
                </a:lnTo>
                <a:lnTo>
                  <a:pt x="2187560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925244" y="170539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445598" y="1071335"/>
            <a:ext cx="7415828" cy="3224936"/>
          </a:xfrm>
          <a:custGeom>
            <a:avLst/>
            <a:gdLst/>
            <a:ahLst/>
            <a:cxnLst/>
            <a:rect l="l" t="t" r="r" b="b"/>
            <a:pathLst>
              <a:path w="7415828" h="3224936">
                <a:moveTo>
                  <a:pt x="0" y="0"/>
                </a:moveTo>
                <a:lnTo>
                  <a:pt x="7415828" y="0"/>
                </a:lnTo>
                <a:lnTo>
                  <a:pt x="7415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939886" y="1295364"/>
            <a:ext cx="4362947" cy="47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 spc="-173">
                <a:solidFill>
                  <a:srgbClr val="1B8B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Minh họa tại tỉnh Quảng Bình: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883110" y="1924030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192626" y="1937603"/>
            <a:ext cx="5878047" cy="72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là tỉnh miền Trung thường xuyên chịu lũ lớn, đặc biệt trong các năm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883110" y="2776725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194263" y="2855970"/>
            <a:ext cx="5714344" cy="68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12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Địa hình đa dạng: vùng núi phía Tây, đồng bằng ven biển phía Đông, nhiều sông lớn như sông Giang, sông Kiến Giang.</a:t>
            </a:r>
          </a:p>
        </p:txBody>
      </p:sp>
      <p:sp>
        <p:nvSpPr>
          <p:cNvPr id="19" name="Freeform 19"/>
          <p:cNvSpPr/>
          <p:nvPr/>
        </p:nvSpPr>
        <p:spPr>
          <a:xfrm>
            <a:off x="8487732" y="4285339"/>
            <a:ext cx="2187560" cy="2579949"/>
          </a:xfrm>
          <a:custGeom>
            <a:avLst/>
            <a:gdLst/>
            <a:ahLst/>
            <a:cxnLst/>
            <a:rect l="l" t="t" r="r" b="b"/>
            <a:pathLst>
              <a:path w="2187560" h="2579949">
                <a:moveTo>
                  <a:pt x="0" y="0"/>
                </a:moveTo>
                <a:lnTo>
                  <a:pt x="2187560" y="0"/>
                </a:lnTo>
                <a:lnTo>
                  <a:pt x="218756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925244" y="4711687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445598" y="4285339"/>
            <a:ext cx="7415828" cy="2787657"/>
          </a:xfrm>
          <a:custGeom>
            <a:avLst/>
            <a:gdLst/>
            <a:ahLst/>
            <a:cxnLst/>
            <a:rect l="l" t="t" r="r" b="b"/>
            <a:pathLst>
              <a:path w="7415828" h="2787657">
                <a:moveTo>
                  <a:pt x="0" y="0"/>
                </a:moveTo>
                <a:lnTo>
                  <a:pt x="7415828" y="0"/>
                </a:lnTo>
                <a:lnTo>
                  <a:pt x="741582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955279" y="4533445"/>
            <a:ext cx="2823613" cy="47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 spc="-173">
                <a:solidFill>
                  <a:srgbClr val="0F3C6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Thiệt hại điển hình: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883110" y="513803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1191071" y="5145378"/>
            <a:ext cx="6033574" cy="75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141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 năm 2020: hàng chục nghìn ha đất nông nghiệp bị ngập, </a:t>
            </a:r>
            <a:r>
              <a:rPr lang="en-US" sz="2351" b="1" spc="-141">
                <a:solidFill>
                  <a:srgbClr val="0F3C6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hơn 20.000 hộ dân</a:t>
            </a:r>
            <a:r>
              <a:rPr lang="en-US" sz="2351" spc="-141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chịu ảnh hưởng.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883110" y="6209369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1203064" y="6094395"/>
            <a:ext cx="4834217" cy="72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tuyến đường giao thông, trường học,</a:t>
            </a:r>
          </a:p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 viện bị chia cắt.</a:t>
            </a:r>
          </a:p>
        </p:txBody>
      </p:sp>
      <p:sp>
        <p:nvSpPr>
          <p:cNvPr id="27" name="Freeform 27"/>
          <p:cNvSpPr/>
          <p:nvPr/>
        </p:nvSpPr>
        <p:spPr>
          <a:xfrm>
            <a:off x="8487732" y="7280704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925244" y="7707051"/>
            <a:ext cx="1312536" cy="150861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445598" y="7280704"/>
            <a:ext cx="7415828" cy="2579949"/>
          </a:xfrm>
          <a:custGeom>
            <a:avLst/>
            <a:gdLst/>
            <a:ahLst/>
            <a:cxnLst/>
            <a:rect l="l" t="t" r="r" b="b"/>
            <a:pathLst>
              <a:path w="7415828" h="2579949">
                <a:moveTo>
                  <a:pt x="0" y="0"/>
                </a:moveTo>
                <a:lnTo>
                  <a:pt x="7415828" y="0"/>
                </a:lnTo>
                <a:lnTo>
                  <a:pt x="741582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966660" y="7560674"/>
            <a:ext cx="4364429" cy="47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 spc="-173">
                <a:solidFill>
                  <a:srgbClr val="2386A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Ý nghĩa lựa chọn Quảng Bình: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883110" y="8133399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1208693" y="8187852"/>
            <a:ext cx="4271345" cy="36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dữ liệu phong phú, dễ kiểm chứng.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883110" y="8778386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1195004" y="8684860"/>
            <a:ext cx="5640202" cy="72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đại diện cao cho khu vực miền Trung – nơi</a:t>
            </a:r>
          </a:p>
          <a:p>
            <a:pPr algn="l">
              <a:lnSpc>
                <a:spcPts val="2953"/>
              </a:lnSpc>
            </a:pPr>
            <a:r>
              <a:rPr lang="en-US" sz="2271" spc="-13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 lụt xảy ra thường xuyên và gây thiệt hại nặng nề.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5330" y="1266789"/>
            <a:ext cx="66675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F3C6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Khu vực nghiên cứu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762125"/>
            <a:chOff x="0" y="0"/>
            <a:chExt cx="24384000" cy="2349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349500"/>
            </a:xfrm>
            <a:custGeom>
              <a:avLst/>
              <a:gdLst/>
              <a:ahLst/>
              <a:cxnLst/>
              <a:rect l="l" t="t" r="r" b="b"/>
              <a:pathLst>
                <a:path w="24384000" h="2349500">
                  <a:moveTo>
                    <a:pt x="0" y="0"/>
                  </a:moveTo>
                  <a:lnTo>
                    <a:pt x="24384000" y="0"/>
                  </a:lnTo>
                  <a:lnTo>
                    <a:pt x="24384000" y="2349500"/>
                  </a:lnTo>
                  <a:lnTo>
                    <a:pt x="0" y="2349500"/>
                  </a:lnTo>
                  <a:close/>
                </a:path>
              </a:pathLst>
            </a:custGeom>
            <a:solidFill>
              <a:srgbClr val="163B6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238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71450" cy="1762125"/>
            <a:chOff x="0" y="0"/>
            <a:chExt cx="228600" cy="234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" cy="2349500"/>
            </a:xfrm>
            <a:custGeom>
              <a:avLst/>
              <a:gdLst/>
              <a:ahLst/>
              <a:cxnLst/>
              <a:rect l="l" t="t" r="r" b="b"/>
              <a:pathLst>
                <a:path w="228600" h="2349500">
                  <a:moveTo>
                    <a:pt x="0" y="0"/>
                  </a:moveTo>
                  <a:lnTo>
                    <a:pt x="228600" y="0"/>
                  </a:lnTo>
                  <a:lnTo>
                    <a:pt x="228600" y="2349500"/>
                  </a:lnTo>
                  <a:lnTo>
                    <a:pt x="0" y="2349500"/>
                  </a:lnTo>
                  <a:close/>
                </a:path>
              </a:pathLst>
            </a:custGeom>
            <a:solidFill>
              <a:srgbClr val="26CB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8600" cy="238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52450" y="209550"/>
            <a:ext cx="1428750" cy="103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26CBF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2625" y="209550"/>
            <a:ext cx="6667500" cy="103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Phương pháp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1500" y="1219200"/>
            <a:ext cx="7239000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168">
                <a:solidFill>
                  <a:srgbClr val="BFE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QUY TRÌNH PHÂN TÍCH NGUY CƠ LŨ LỤT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1000" y="2424111"/>
            <a:ext cx="5718060" cy="3457575"/>
            <a:chOff x="0" y="0"/>
            <a:chExt cx="6968067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4875" y="2381250"/>
            <a:ext cx="5226050" cy="85725"/>
            <a:chOff x="0" y="0"/>
            <a:chExt cx="6968067" cy="114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6CB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71575" y="2619375"/>
            <a:ext cx="628650" cy="628650"/>
            <a:chOff x="0" y="0"/>
            <a:chExt cx="838200" cy="838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26CB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52625" y="2667000"/>
            <a:ext cx="38925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1. Thu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thập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liệu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đầu</a:t>
            </a:r>
            <a:endParaRPr lang="en-US" sz="2400" b="1" dirty="0" smtClean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1815"/>
              </a:lnSpc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1815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vào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171575" y="3448050"/>
            <a:ext cx="4692650" cy="19050"/>
            <a:chOff x="0" y="0"/>
            <a:chExt cx="6256867" cy="25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CBF3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52450" y="3669203"/>
            <a:ext cx="5546609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(Digital Elevation Model)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endParaRPr lang="en-US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khí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mực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sông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chảy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tầng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hống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sông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đê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530975" y="2381250"/>
            <a:ext cx="5308600" cy="3500436"/>
            <a:chOff x="0" y="0"/>
            <a:chExt cx="6968067" cy="406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30975" y="2381250"/>
            <a:ext cx="5226050" cy="85725"/>
            <a:chOff x="0" y="0"/>
            <a:chExt cx="6968067" cy="1143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6CB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675" y="2619375"/>
            <a:ext cx="628650" cy="628650"/>
            <a:chOff x="0" y="0"/>
            <a:chExt cx="838200" cy="838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26CB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78725" y="2667000"/>
            <a:ext cx="38925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2.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Tiền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xử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lý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liệu</a:t>
            </a:r>
            <a:endParaRPr lang="en-US" sz="2400" b="1" dirty="0" smtClean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1815"/>
              </a:lnSpc>
            </a:pPr>
            <a:endParaRPr lang="en-US" sz="2400" b="1" dirty="0" smtClean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1815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797675" y="3448050"/>
            <a:ext cx="4692650" cy="19050"/>
            <a:chOff x="0" y="0"/>
            <a:chExt cx="6256867" cy="25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CBF3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797675" y="3609975"/>
            <a:ext cx="4692650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Cắt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nghiên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tọa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endParaRPr lang="en-US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raster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157075" y="2466975"/>
            <a:ext cx="5226050" cy="3048000"/>
            <a:chOff x="0" y="0"/>
            <a:chExt cx="6968067" cy="406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57075" y="2381250"/>
            <a:ext cx="5226050" cy="85725"/>
            <a:chOff x="0" y="0"/>
            <a:chExt cx="6968067" cy="1143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93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423775" y="2619375"/>
            <a:ext cx="628650" cy="628650"/>
            <a:chOff x="0" y="0"/>
            <a:chExt cx="838200" cy="838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1593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204825" y="2667000"/>
            <a:ext cx="38925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3.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dựng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bản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yếu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tố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2423775" y="3448050"/>
            <a:ext cx="4692650" cy="19050"/>
            <a:chOff x="0" y="0"/>
            <a:chExt cx="6256867" cy="25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5939A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2423775" y="3609975"/>
            <a:ext cx="4692650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khoảng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sông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dốc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phủ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bề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mặt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mật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thoát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đất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ẩm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(TWI);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(NDVI</a:t>
            </a:r>
            <a:r>
              <a:rPr lang="en-US" sz="13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157075" y="6334125"/>
            <a:ext cx="5226050" cy="3048000"/>
            <a:chOff x="0" y="0"/>
            <a:chExt cx="6968067" cy="4064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157075" y="6334125"/>
            <a:ext cx="5226050" cy="85725"/>
            <a:chOff x="0" y="0"/>
            <a:chExt cx="6968067" cy="1143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66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423775" y="6572250"/>
            <a:ext cx="628650" cy="628650"/>
            <a:chOff x="0" y="0"/>
            <a:chExt cx="838200" cy="838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E66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3204825" y="6619875"/>
            <a:ext cx="38925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4.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cấp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chuẩn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hóa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yếu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tố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64" name="Group 64"/>
          <p:cNvGrpSpPr/>
          <p:nvPr/>
        </p:nvGrpSpPr>
        <p:grpSpPr>
          <a:xfrm>
            <a:off x="12423775" y="7400925"/>
            <a:ext cx="4692650" cy="19050"/>
            <a:chOff x="0" y="0"/>
            <a:chExt cx="6256867" cy="25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66B0B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423775" y="7562850"/>
            <a:ext cx="469265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trị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1–5,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đảm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yếu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6530975" y="6257925"/>
            <a:ext cx="5226050" cy="3048000"/>
            <a:chOff x="0" y="0"/>
            <a:chExt cx="6968067" cy="40640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530975" y="6334125"/>
            <a:ext cx="5226050" cy="85725"/>
            <a:chOff x="0" y="0"/>
            <a:chExt cx="6968067" cy="1143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93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97675" y="6572250"/>
            <a:ext cx="628650" cy="628650"/>
            <a:chOff x="0" y="0"/>
            <a:chExt cx="838200" cy="838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1593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7578725" y="6619875"/>
            <a:ext cx="38925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5.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Tích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hợp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yếu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tố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trong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GIS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6797675" y="7400925"/>
            <a:ext cx="4692650" cy="19050"/>
            <a:chOff x="0" y="0"/>
            <a:chExt cx="6256867" cy="254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5939A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6797675" y="7562850"/>
            <a:ext cx="4692650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Chồng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raster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toán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lựa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chọn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hoặc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AHP (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bậc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904875" y="6334125"/>
            <a:ext cx="5226050" cy="3048000"/>
            <a:chOff x="0" y="0"/>
            <a:chExt cx="6968067" cy="40640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968067" cy="4064000"/>
            </a:xfrm>
            <a:custGeom>
              <a:avLst/>
              <a:gdLst/>
              <a:ahLst/>
              <a:cxnLst/>
              <a:rect l="l" t="t" r="r" b="b"/>
              <a:pathLst>
                <a:path w="6968067" h="4064000">
                  <a:moveTo>
                    <a:pt x="254000" y="0"/>
                  </a:moveTo>
                  <a:lnTo>
                    <a:pt x="6714067" y="0"/>
                  </a:lnTo>
                  <a:cubicBezTo>
                    <a:pt x="6854348" y="0"/>
                    <a:pt x="6968067" y="113720"/>
                    <a:pt x="6968067" y="254000"/>
                  </a:cubicBezTo>
                  <a:lnTo>
                    <a:pt x="6968067" y="3810000"/>
                  </a:lnTo>
                  <a:cubicBezTo>
                    <a:pt x="6968067" y="3877365"/>
                    <a:pt x="6941307" y="3941971"/>
                    <a:pt x="6893672" y="3989605"/>
                  </a:cubicBezTo>
                  <a:cubicBezTo>
                    <a:pt x="6846038" y="4037239"/>
                    <a:pt x="6781432" y="4064000"/>
                    <a:pt x="6714067" y="4064000"/>
                  </a:cubicBezTo>
                  <a:lnTo>
                    <a:pt x="254000" y="4064000"/>
                  </a:lnTo>
                  <a:cubicBezTo>
                    <a:pt x="113720" y="4064000"/>
                    <a:pt x="0" y="3950280"/>
                    <a:pt x="0" y="3810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w="19050" cap="sq">
              <a:solidFill>
                <a:srgbClr val="D5E3ED">
                  <a:alpha val="9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6968067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04875" y="6334125"/>
            <a:ext cx="5226050" cy="85725"/>
            <a:chOff x="0" y="0"/>
            <a:chExt cx="6968067" cy="1143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968067" cy="114300"/>
            </a:xfrm>
            <a:custGeom>
              <a:avLst/>
              <a:gdLst/>
              <a:ahLst/>
              <a:cxnLst/>
              <a:rect l="l" t="t" r="r" b="b"/>
              <a:pathLst>
                <a:path w="6968067" h="114300">
                  <a:moveTo>
                    <a:pt x="57150" y="0"/>
                  </a:moveTo>
                  <a:lnTo>
                    <a:pt x="6910917" y="0"/>
                  </a:lnTo>
                  <a:cubicBezTo>
                    <a:pt x="6942480" y="0"/>
                    <a:pt x="6968067" y="25587"/>
                    <a:pt x="6968067" y="57150"/>
                  </a:cubicBezTo>
                  <a:lnTo>
                    <a:pt x="6968067" y="57150"/>
                  </a:lnTo>
                  <a:cubicBezTo>
                    <a:pt x="6968067" y="72307"/>
                    <a:pt x="6962046" y="86843"/>
                    <a:pt x="6951328" y="97561"/>
                  </a:cubicBezTo>
                  <a:cubicBezTo>
                    <a:pt x="6940610" y="108279"/>
                    <a:pt x="6926074" y="114300"/>
                    <a:pt x="6910917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66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6968067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71575" y="6572250"/>
            <a:ext cx="628650" cy="628650"/>
            <a:chOff x="0" y="0"/>
            <a:chExt cx="838200" cy="8382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19100" y="0"/>
                  </a:moveTo>
                  <a:lnTo>
                    <a:pt x="419100" y="0"/>
                  </a:lnTo>
                  <a:cubicBezTo>
                    <a:pt x="650563" y="0"/>
                    <a:pt x="838200" y="187637"/>
                    <a:pt x="838200" y="419100"/>
                  </a:cubicBezTo>
                  <a:lnTo>
                    <a:pt x="838200" y="419100"/>
                  </a:lnTo>
                  <a:cubicBezTo>
                    <a:pt x="838200" y="650563"/>
                    <a:pt x="650563" y="838200"/>
                    <a:pt x="419100" y="838200"/>
                  </a:cubicBezTo>
                  <a:lnTo>
                    <a:pt x="419100" y="838200"/>
                  </a:lnTo>
                  <a:cubicBezTo>
                    <a:pt x="187637" y="838200"/>
                    <a:pt x="0" y="650563"/>
                    <a:pt x="0" y="419100"/>
                  </a:cubicBezTo>
                  <a:lnTo>
                    <a:pt x="0" y="419100"/>
                  </a:lnTo>
                  <a:cubicBezTo>
                    <a:pt x="0" y="187637"/>
                    <a:pt x="187637" y="0"/>
                    <a:pt x="419100" y="0"/>
                  </a:cubicBezTo>
                  <a:close/>
                </a:path>
              </a:pathLst>
            </a:custGeom>
            <a:solidFill>
              <a:srgbClr val="E66B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57150"/>
              <a:ext cx="8382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952625" y="6619875"/>
            <a:ext cx="38925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Bước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6.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lập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bản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đồ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lũ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lụt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92" name="Group 92"/>
          <p:cNvGrpSpPr/>
          <p:nvPr/>
        </p:nvGrpSpPr>
        <p:grpSpPr>
          <a:xfrm>
            <a:off x="1171575" y="7400925"/>
            <a:ext cx="4692650" cy="19050"/>
            <a:chOff x="0" y="0"/>
            <a:chExt cx="6256867" cy="254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256867" cy="25400"/>
            </a:xfrm>
            <a:custGeom>
              <a:avLst/>
              <a:gdLst/>
              <a:ahLst/>
              <a:cxnLst/>
              <a:rect l="l" t="t" r="r" b="b"/>
              <a:pathLst>
                <a:path w="6256867" h="25400">
                  <a:moveTo>
                    <a:pt x="0" y="0"/>
                  </a:moveTo>
                  <a:lnTo>
                    <a:pt x="6256867" y="0"/>
                  </a:lnTo>
                  <a:lnTo>
                    <a:pt x="625686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66B0B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256867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71575" y="7562850"/>
            <a:ext cx="4692650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lũ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lụt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nghiên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23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1623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từng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hành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132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96" name="AutoShape 96"/>
          <p:cNvSpPr/>
          <p:nvPr/>
        </p:nvSpPr>
        <p:spPr>
          <a:xfrm>
            <a:off x="6207125" y="3905250"/>
            <a:ext cx="247650" cy="0"/>
          </a:xfrm>
          <a:prstGeom prst="line">
            <a:avLst/>
          </a:prstGeom>
          <a:ln w="47625" cap="flat">
            <a:solidFill>
              <a:srgbClr val="26CBF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7" name="AutoShape 97"/>
          <p:cNvSpPr/>
          <p:nvPr/>
        </p:nvSpPr>
        <p:spPr>
          <a:xfrm>
            <a:off x="14770100" y="5505450"/>
            <a:ext cx="0" cy="752475"/>
          </a:xfrm>
          <a:prstGeom prst="line">
            <a:avLst/>
          </a:prstGeom>
          <a:ln w="47625" cap="flat">
            <a:solidFill>
              <a:srgbClr val="15939A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8" name="AutoShape 98"/>
          <p:cNvSpPr/>
          <p:nvPr/>
        </p:nvSpPr>
        <p:spPr>
          <a:xfrm flipH="1">
            <a:off x="11839575" y="7858125"/>
            <a:ext cx="238125" cy="0"/>
          </a:xfrm>
          <a:prstGeom prst="line">
            <a:avLst/>
          </a:prstGeom>
          <a:ln w="47625" cap="flat">
            <a:solidFill>
              <a:srgbClr val="E66B0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9" name="AutoShape 99"/>
          <p:cNvSpPr/>
          <p:nvPr/>
        </p:nvSpPr>
        <p:spPr>
          <a:xfrm flipH="1">
            <a:off x="6219825" y="7858125"/>
            <a:ext cx="238125" cy="0"/>
          </a:xfrm>
          <a:prstGeom prst="line">
            <a:avLst/>
          </a:prstGeom>
          <a:ln w="47625" cap="flat">
            <a:solidFill>
              <a:srgbClr val="E66B0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AutoShape 100"/>
          <p:cNvSpPr/>
          <p:nvPr/>
        </p:nvSpPr>
        <p:spPr>
          <a:xfrm>
            <a:off x="11830050" y="3881438"/>
            <a:ext cx="247650" cy="0"/>
          </a:xfrm>
          <a:prstGeom prst="line">
            <a:avLst/>
          </a:prstGeom>
          <a:ln w="47625" cap="flat">
            <a:solidFill>
              <a:srgbClr val="26CBF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850" y="1485900"/>
            <a:ext cx="16383000" cy="19050"/>
            <a:chOff x="0" y="0"/>
            <a:chExt cx="218440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25400"/>
            </a:xfrm>
            <a:custGeom>
              <a:avLst/>
              <a:gdLst/>
              <a:ahLst/>
              <a:cxnLst/>
              <a:rect l="l" t="t" r="r" b="b"/>
              <a:pathLst>
                <a:path w="21844000" h="254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5C4D6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62125" y="8315325"/>
            <a:ext cx="14763750" cy="45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nghiên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Quảng</a:t>
            </a:r>
            <a:r>
              <a:rPr lang="en-US" sz="28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endParaRPr lang="en-US" sz="285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5850" y="821714"/>
            <a:ext cx="152781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vi-VN" sz="2800" dirty="0" smtClean="0">
                <a:latin typeface="Times New Roman" pitchFamily="18" charset="0"/>
                <a:cs typeface="Times New Roman" pitchFamily="18" charset="0"/>
              </a:rPr>
              <a:t>í </a:t>
            </a:r>
            <a:r>
              <a:rPr lang="vi-VN" sz="2800" dirty="0">
                <a:latin typeface="Times New Roman" pitchFamily="18" charset="0"/>
                <a:cs typeface="Times New Roman" pitchFamily="18" charset="0"/>
              </a:rPr>
              <a:t>dụ mô </a:t>
            </a:r>
            <a:r>
              <a:rPr lang="vi-VN" sz="2800" dirty="0" smtClean="0">
                <a:latin typeface="Times New Roman" pitchFamily="18" charset="0"/>
                <a:cs typeface="Times New Roman" pitchFamily="18" charset="0"/>
              </a:rPr>
              <a:t>phỏng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vi-V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800" dirty="0">
                <a:latin typeface="Times New Roman" pitchFamily="18" charset="0"/>
                <a:cs typeface="Times New Roman" pitchFamily="18" charset="0"/>
              </a:rPr>
              <a:t>Nguồn </a:t>
            </a:r>
            <a:r>
              <a:rPr lang="vi-VN" sz="2800" dirty="0" smtClean="0">
                <a:latin typeface="Times New Roman" pitchFamily="18" charset="0"/>
                <a:cs typeface="Times New Roman" pitchFamily="18" charset="0"/>
              </a:rPr>
              <a:t>Tạp </a:t>
            </a:r>
            <a:r>
              <a:rPr lang="vi-VN" sz="2800" dirty="0">
                <a:latin typeface="Times New Roman" pitchFamily="18" charset="0"/>
                <a:cs typeface="Times New Roman" pitchFamily="18" charset="0"/>
              </a:rPr>
              <a:t>chí Khoa học Tài nguyên và Môi trường - Số 45 - năm 2023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19300"/>
            <a:ext cx="9204381" cy="6019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3196244"/>
            <a:ext cx="7258050" cy="42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541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5850" y="428625"/>
            <a:ext cx="228600" cy="857250"/>
          </a:xfrm>
          <a:custGeom>
            <a:avLst/>
            <a:gdLst/>
            <a:ahLst/>
            <a:cxnLst/>
            <a:rect l="l" t="t" r="r" b="b"/>
            <a:pathLst>
              <a:path w="228600" h="85725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76723" y="391791"/>
            <a:ext cx="3062055" cy="76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1">
                <a:solidFill>
                  <a:srgbClr val="0A1A5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V. Kết quả</a:t>
            </a:r>
          </a:p>
        </p:txBody>
      </p:sp>
      <p:sp>
        <p:nvSpPr>
          <p:cNvPr id="5" name="Freeform 5"/>
          <p:cNvSpPr/>
          <p:nvPr/>
        </p:nvSpPr>
        <p:spPr>
          <a:xfrm>
            <a:off x="1524000" y="1066800"/>
            <a:ext cx="15459075" cy="219075"/>
          </a:xfrm>
          <a:custGeom>
            <a:avLst/>
            <a:gdLst/>
            <a:ahLst/>
            <a:cxnLst/>
            <a:rect l="l" t="t" r="r" b="b"/>
            <a:pathLst>
              <a:path w="15459075" h="219075">
                <a:moveTo>
                  <a:pt x="0" y="0"/>
                </a:moveTo>
                <a:lnTo>
                  <a:pt x="15459075" y="0"/>
                </a:lnTo>
                <a:lnTo>
                  <a:pt x="15459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24000" y="1285875"/>
            <a:ext cx="7620000" cy="8572500"/>
          </a:xfrm>
          <a:custGeom>
            <a:avLst/>
            <a:gdLst/>
            <a:ahLst/>
            <a:cxnLst/>
            <a:rect l="l" t="t" r="r" b="b"/>
            <a:pathLst>
              <a:path w="7620000" h="8572500">
                <a:moveTo>
                  <a:pt x="0" y="0"/>
                </a:moveTo>
                <a:lnTo>
                  <a:pt x="7620000" y="0"/>
                </a:lnTo>
                <a:lnTo>
                  <a:pt x="762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33550" y="4924425"/>
            <a:ext cx="7200900" cy="647700"/>
          </a:xfrm>
          <a:custGeom>
            <a:avLst/>
            <a:gdLst/>
            <a:ahLst/>
            <a:cxnLst/>
            <a:rect l="l" t="t" r="r" b="b"/>
            <a:pathLst>
              <a:path w="7200900" h="647700">
                <a:moveTo>
                  <a:pt x="0" y="0"/>
                </a:moveTo>
                <a:lnTo>
                  <a:pt x="7200900" y="0"/>
                </a:lnTo>
                <a:lnTo>
                  <a:pt x="7200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33550" y="5572125"/>
            <a:ext cx="2838450" cy="3429000"/>
          </a:xfrm>
          <a:custGeom>
            <a:avLst/>
            <a:gdLst/>
            <a:ahLst/>
            <a:cxnLst/>
            <a:rect l="l" t="t" r="r" b="b"/>
            <a:pathLst>
              <a:path w="2838450" h="3429000">
                <a:moveTo>
                  <a:pt x="0" y="0"/>
                </a:moveTo>
                <a:lnTo>
                  <a:pt x="2838450" y="0"/>
                </a:lnTo>
                <a:lnTo>
                  <a:pt x="2838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352925" y="5572125"/>
            <a:ext cx="4581525" cy="3429000"/>
          </a:xfrm>
          <a:custGeom>
            <a:avLst/>
            <a:gdLst/>
            <a:ahLst/>
            <a:cxnLst/>
            <a:rect l="l" t="t" r="r" b="b"/>
            <a:pathLst>
              <a:path w="4581525" h="3429000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33550" y="9001125"/>
            <a:ext cx="7200900" cy="647700"/>
          </a:xfrm>
          <a:custGeom>
            <a:avLst/>
            <a:gdLst/>
            <a:ahLst/>
            <a:cxnLst/>
            <a:rect l="l" t="t" r="r" b="b"/>
            <a:pathLst>
              <a:path w="7200900" h="647700">
                <a:moveTo>
                  <a:pt x="0" y="0"/>
                </a:moveTo>
                <a:lnTo>
                  <a:pt x="7200900" y="0"/>
                </a:lnTo>
                <a:lnTo>
                  <a:pt x="7200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144000" y="1285875"/>
            <a:ext cx="7620000" cy="8572500"/>
          </a:xfrm>
          <a:custGeom>
            <a:avLst/>
            <a:gdLst/>
            <a:ahLst/>
            <a:cxnLst/>
            <a:rect l="l" t="t" r="r" b="b"/>
            <a:pathLst>
              <a:path w="7620000" h="8572500">
                <a:moveTo>
                  <a:pt x="0" y="0"/>
                </a:moveTo>
                <a:lnTo>
                  <a:pt x="7620000" y="0"/>
                </a:lnTo>
                <a:lnTo>
                  <a:pt x="762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353550" y="1714500"/>
            <a:ext cx="2838450" cy="3429000"/>
          </a:xfrm>
          <a:custGeom>
            <a:avLst/>
            <a:gdLst/>
            <a:ahLst/>
            <a:cxnLst/>
            <a:rect l="l" t="t" r="r" b="b"/>
            <a:pathLst>
              <a:path w="2838450" h="3429000">
                <a:moveTo>
                  <a:pt x="0" y="0"/>
                </a:moveTo>
                <a:lnTo>
                  <a:pt x="2838450" y="0"/>
                </a:lnTo>
                <a:lnTo>
                  <a:pt x="2838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972925" y="1714500"/>
            <a:ext cx="4581525" cy="3429000"/>
          </a:xfrm>
          <a:custGeom>
            <a:avLst/>
            <a:gdLst/>
            <a:ahLst/>
            <a:cxnLst/>
            <a:rect l="l" t="t" r="r" b="b"/>
            <a:pathLst>
              <a:path w="4581525" h="3429000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353550" y="4924425"/>
            <a:ext cx="7200900" cy="647700"/>
          </a:xfrm>
          <a:custGeom>
            <a:avLst/>
            <a:gdLst/>
            <a:ahLst/>
            <a:cxnLst/>
            <a:rect l="l" t="t" r="r" b="b"/>
            <a:pathLst>
              <a:path w="7200900" h="647700">
                <a:moveTo>
                  <a:pt x="0" y="0"/>
                </a:moveTo>
                <a:lnTo>
                  <a:pt x="7200900" y="0"/>
                </a:lnTo>
                <a:lnTo>
                  <a:pt x="7200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429750" y="5062809"/>
            <a:ext cx="6965156" cy="39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52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 3: Bản đồ phân cấp khoảng cách đến sông, hồ</a:t>
            </a:r>
          </a:p>
        </p:txBody>
      </p:sp>
      <p:sp>
        <p:nvSpPr>
          <p:cNvPr id="18" name="Freeform 18"/>
          <p:cNvSpPr/>
          <p:nvPr/>
        </p:nvSpPr>
        <p:spPr>
          <a:xfrm>
            <a:off x="9353550" y="5572125"/>
            <a:ext cx="2838450" cy="3429000"/>
          </a:xfrm>
          <a:custGeom>
            <a:avLst/>
            <a:gdLst/>
            <a:ahLst/>
            <a:cxnLst/>
            <a:rect l="l" t="t" r="r" b="b"/>
            <a:pathLst>
              <a:path w="2838450" h="3429000">
                <a:moveTo>
                  <a:pt x="0" y="0"/>
                </a:moveTo>
                <a:lnTo>
                  <a:pt x="2838450" y="0"/>
                </a:lnTo>
                <a:lnTo>
                  <a:pt x="2838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972925" y="5572125"/>
            <a:ext cx="4581525" cy="3429000"/>
          </a:xfrm>
          <a:custGeom>
            <a:avLst/>
            <a:gdLst/>
            <a:ahLst/>
            <a:cxnLst/>
            <a:rect l="l" t="t" r="r" b="b"/>
            <a:pathLst>
              <a:path w="4581525" h="3429000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429750" y="9001125"/>
            <a:ext cx="7200900" cy="647700"/>
          </a:xfrm>
          <a:custGeom>
            <a:avLst/>
            <a:gdLst/>
            <a:ahLst/>
            <a:cxnLst/>
            <a:rect l="l" t="t" r="r" b="b"/>
            <a:pathLst>
              <a:path w="7200900" h="647700">
                <a:moveTo>
                  <a:pt x="0" y="0"/>
                </a:moveTo>
                <a:lnTo>
                  <a:pt x="7200900" y="0"/>
                </a:lnTo>
                <a:lnTo>
                  <a:pt x="7200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902023" y="5062809"/>
            <a:ext cx="6965156" cy="39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52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 2: Bản đồ phân cấp lượng mưa hàng năm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9750" y="9086191"/>
            <a:ext cx="6965156" cy="39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52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 5: Bản đồ phân cấp độ đốc địa hình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02023" y="9086191"/>
            <a:ext cx="6965156" cy="4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6"/>
              </a:lnSpc>
            </a:pPr>
            <a:r>
              <a:rPr lang="en-US" sz="262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 4: Bản đồ phân cấp độ cao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268" y="1562100"/>
            <a:ext cx="6933182" cy="33623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416" y="1562099"/>
            <a:ext cx="7231034" cy="336232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268" y="5753100"/>
            <a:ext cx="6942457" cy="32480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0" y="5572125"/>
            <a:ext cx="6965156" cy="3428999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11270" y="408068"/>
            <a:ext cx="3350328" cy="67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5146" b="1" spc="103">
                <a:solidFill>
                  <a:srgbClr val="092D59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V. Kết quả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1066800"/>
            <a:ext cx="16773525" cy="219075"/>
          </a:xfrm>
          <a:custGeom>
            <a:avLst/>
            <a:gdLst/>
            <a:ahLst/>
            <a:cxnLst/>
            <a:rect l="l" t="t" r="r" b="b"/>
            <a:pathLst>
              <a:path w="16773525" h="21907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4925" y="1285875"/>
            <a:ext cx="7629525" cy="4076700"/>
          </a:xfrm>
          <a:custGeom>
            <a:avLst/>
            <a:gdLst/>
            <a:ahLst/>
            <a:cxnLst/>
            <a:rect l="l" t="t" r="r" b="b"/>
            <a:pathLst>
              <a:path w="7629525" h="4076700">
                <a:moveTo>
                  <a:pt x="0" y="0"/>
                </a:moveTo>
                <a:lnTo>
                  <a:pt x="7629525" y="0"/>
                </a:lnTo>
                <a:lnTo>
                  <a:pt x="7629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04925" y="1285875"/>
            <a:ext cx="3057525" cy="4076700"/>
          </a:xfrm>
          <a:custGeom>
            <a:avLst/>
            <a:gdLst/>
            <a:ahLst/>
            <a:cxnLst/>
            <a:rect l="l" t="t" r="r" b="b"/>
            <a:pathLst>
              <a:path w="3057525" h="4076700">
                <a:moveTo>
                  <a:pt x="0" y="0"/>
                </a:moveTo>
                <a:lnTo>
                  <a:pt x="3057525" y="0"/>
                </a:lnTo>
                <a:lnTo>
                  <a:pt x="3057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352925" y="1285875"/>
            <a:ext cx="4581525" cy="4076700"/>
          </a:xfrm>
          <a:custGeom>
            <a:avLst/>
            <a:gdLst/>
            <a:ahLst/>
            <a:cxnLst/>
            <a:rect l="l" t="t" r="r" b="b"/>
            <a:pathLst>
              <a:path w="4581525" h="4076700">
                <a:moveTo>
                  <a:pt x="0" y="0"/>
                </a:moveTo>
                <a:lnTo>
                  <a:pt x="4581525" y="0"/>
                </a:lnTo>
                <a:lnTo>
                  <a:pt x="4581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352925" y="4067175"/>
            <a:ext cx="657225" cy="1076325"/>
          </a:xfrm>
          <a:custGeom>
            <a:avLst/>
            <a:gdLst/>
            <a:ahLst/>
            <a:cxnLst/>
            <a:rect l="l" t="t" r="r" b="b"/>
            <a:pathLst>
              <a:path w="657225" h="10763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834570" y="4079547"/>
            <a:ext cx="1425063" cy="9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b="1" spc="-59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Thực vật</a:t>
            </a:r>
          </a:p>
          <a:p>
            <a:pPr algn="l">
              <a:lnSpc>
                <a:spcPts val="1942"/>
              </a:lnSpc>
            </a:pPr>
            <a:r>
              <a:rPr lang="en-US" sz="1494" b="1" spc="-59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trồng</a:t>
            </a:r>
          </a:p>
          <a:p>
            <a:pPr algn="l">
              <a:lnSpc>
                <a:spcPts val="1942"/>
              </a:lnSpc>
            </a:pPr>
            <a:r>
              <a:rPr lang="en-US" sz="1494" b="1" spc="-59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Dân cư</a:t>
            </a:r>
          </a:p>
          <a:p>
            <a:pPr algn="l">
              <a:lnSpc>
                <a:spcPts val="1942"/>
              </a:lnSpc>
            </a:pPr>
            <a:r>
              <a:rPr lang="en-US" sz="1494" b="1" spc="-59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nông nghiệp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02035" y="5293019"/>
            <a:ext cx="4739067" cy="27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2016" b="1" spc="40">
                <a:solidFill>
                  <a:srgbClr val="092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 6: Bản đồ phân cấp lớp phù bề mặt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53550" y="1285875"/>
            <a:ext cx="7629525" cy="4076700"/>
          </a:xfrm>
          <a:custGeom>
            <a:avLst/>
            <a:gdLst/>
            <a:ahLst/>
            <a:cxnLst/>
            <a:rect l="l" t="t" r="r" b="b"/>
            <a:pathLst>
              <a:path w="7629525" h="4076700">
                <a:moveTo>
                  <a:pt x="0" y="0"/>
                </a:moveTo>
                <a:lnTo>
                  <a:pt x="7629525" y="0"/>
                </a:lnTo>
                <a:lnTo>
                  <a:pt x="7629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353550" y="1285875"/>
            <a:ext cx="3057525" cy="4076700"/>
          </a:xfrm>
          <a:custGeom>
            <a:avLst/>
            <a:gdLst/>
            <a:ahLst/>
            <a:cxnLst/>
            <a:rect l="l" t="t" r="r" b="b"/>
            <a:pathLst>
              <a:path w="3057525" h="4076700">
                <a:moveTo>
                  <a:pt x="0" y="0"/>
                </a:moveTo>
                <a:lnTo>
                  <a:pt x="3057525" y="0"/>
                </a:lnTo>
                <a:lnTo>
                  <a:pt x="3057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401550" y="1285875"/>
            <a:ext cx="4581525" cy="4076700"/>
          </a:xfrm>
          <a:custGeom>
            <a:avLst/>
            <a:gdLst/>
            <a:ahLst/>
            <a:cxnLst/>
            <a:rect l="l" t="t" r="r" b="b"/>
            <a:pathLst>
              <a:path w="4581525" h="4076700">
                <a:moveTo>
                  <a:pt x="0" y="0"/>
                </a:moveTo>
                <a:lnTo>
                  <a:pt x="4581525" y="0"/>
                </a:lnTo>
                <a:lnTo>
                  <a:pt x="4581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01550" y="4067175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793830" y="4154574"/>
            <a:ext cx="1134170" cy="8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0,039 - 0,646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0,647 - 0,872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0,873 - 1,038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1,039 - 1,185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0648" y="5293019"/>
            <a:ext cx="5514450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38">
                <a:solidFill>
                  <a:srgbClr val="092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 7: Bản đồ phân cấp mật độ thoát nước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04925" y="5572125"/>
            <a:ext cx="7629525" cy="3857625"/>
          </a:xfrm>
          <a:custGeom>
            <a:avLst/>
            <a:gdLst/>
            <a:ahLst/>
            <a:cxnLst/>
            <a:rect l="l" t="t" r="r" b="b"/>
            <a:pathLst>
              <a:path w="7629525" h="3857625">
                <a:moveTo>
                  <a:pt x="0" y="0"/>
                </a:moveTo>
                <a:lnTo>
                  <a:pt x="7629525" y="0"/>
                </a:lnTo>
                <a:lnTo>
                  <a:pt x="7629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04925" y="5572125"/>
            <a:ext cx="3057525" cy="3857625"/>
          </a:xfrm>
          <a:custGeom>
            <a:avLst/>
            <a:gdLst/>
            <a:ahLst/>
            <a:cxnLst/>
            <a:rect l="l" t="t" r="r" b="b"/>
            <a:pathLst>
              <a:path w="3057525" h="3857625">
                <a:moveTo>
                  <a:pt x="0" y="0"/>
                </a:moveTo>
                <a:lnTo>
                  <a:pt x="3057525" y="0"/>
                </a:lnTo>
                <a:lnTo>
                  <a:pt x="3057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4352925" y="5572125"/>
            <a:ext cx="4581525" cy="3857625"/>
          </a:xfrm>
          <a:custGeom>
            <a:avLst/>
            <a:gdLst/>
            <a:ahLst/>
            <a:cxnLst/>
            <a:rect l="l" t="t" r="r" b="b"/>
            <a:pathLst>
              <a:path w="4581525" h="3857625">
                <a:moveTo>
                  <a:pt x="0" y="0"/>
                </a:moveTo>
                <a:lnTo>
                  <a:pt x="4581525" y="0"/>
                </a:lnTo>
                <a:lnTo>
                  <a:pt x="4581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4133850" y="7924800"/>
            <a:ext cx="657225" cy="1295400"/>
          </a:xfrm>
          <a:custGeom>
            <a:avLst/>
            <a:gdLst/>
            <a:ahLst/>
            <a:cxnLst/>
            <a:rect l="l" t="t" r="r" b="b"/>
            <a:pathLst>
              <a:path w="657225" h="1295400">
                <a:moveTo>
                  <a:pt x="0" y="0"/>
                </a:moveTo>
                <a:lnTo>
                  <a:pt x="657225" y="0"/>
                </a:lnTo>
                <a:lnTo>
                  <a:pt x="657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4745016" y="7991826"/>
            <a:ext cx="2343668" cy="117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núi da</a:t>
            </a:r>
          </a:p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cát cha</a:t>
            </a:r>
          </a:p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sát than bùn</a:t>
            </a:r>
          </a:p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xâm bạc màu trên đá</a:t>
            </a:r>
          </a:p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trám tích và đá biển chất</a:t>
            </a:r>
          </a:p>
          <a:p>
            <a:pPr algn="l">
              <a:lnSpc>
                <a:spcPts val="1645"/>
              </a:lnSpc>
            </a:pPr>
            <a:r>
              <a:rPr lang="en-US" sz="1265" b="1" spc="-50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Đất phù sa ngọt không được bôi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02035" y="9458325"/>
            <a:ext cx="4739067" cy="31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2216" b="1" spc="44">
                <a:solidFill>
                  <a:srgbClr val="092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 8: Bản đồ phân cấp loại đất</a:t>
            </a:r>
          </a:p>
        </p:txBody>
      </p:sp>
      <p:sp>
        <p:nvSpPr>
          <p:cNvPr id="23" name="Freeform 23"/>
          <p:cNvSpPr/>
          <p:nvPr/>
        </p:nvSpPr>
        <p:spPr>
          <a:xfrm>
            <a:off x="9353550" y="5572125"/>
            <a:ext cx="7629525" cy="3857625"/>
          </a:xfrm>
          <a:custGeom>
            <a:avLst/>
            <a:gdLst/>
            <a:ahLst/>
            <a:cxnLst/>
            <a:rect l="l" t="t" r="r" b="b"/>
            <a:pathLst>
              <a:path w="7629525" h="3857625">
                <a:moveTo>
                  <a:pt x="0" y="0"/>
                </a:moveTo>
                <a:lnTo>
                  <a:pt x="7629525" y="0"/>
                </a:lnTo>
                <a:lnTo>
                  <a:pt x="7629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353550" y="5572125"/>
            <a:ext cx="3057525" cy="3857625"/>
          </a:xfrm>
          <a:custGeom>
            <a:avLst/>
            <a:gdLst/>
            <a:ahLst/>
            <a:cxnLst/>
            <a:rect l="l" t="t" r="r" b="b"/>
            <a:pathLst>
              <a:path w="3057525" h="3857625">
                <a:moveTo>
                  <a:pt x="0" y="0"/>
                </a:moveTo>
                <a:lnTo>
                  <a:pt x="3057525" y="0"/>
                </a:lnTo>
                <a:lnTo>
                  <a:pt x="3057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2401550" y="5572125"/>
            <a:ext cx="4581525" cy="3857625"/>
          </a:xfrm>
          <a:custGeom>
            <a:avLst/>
            <a:gdLst/>
            <a:ahLst/>
            <a:cxnLst/>
            <a:rect l="l" t="t" r="r" b="b"/>
            <a:pathLst>
              <a:path w="4581525" h="3857625">
                <a:moveTo>
                  <a:pt x="0" y="0"/>
                </a:moveTo>
                <a:lnTo>
                  <a:pt x="4581525" y="0"/>
                </a:lnTo>
                <a:lnTo>
                  <a:pt x="45815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2401550" y="8143875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2795694" y="8268369"/>
            <a:ext cx="947749" cy="85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2,28 - 5,76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5,77 - 7,96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7,97 - 11,08</a:t>
            </a:r>
          </a:p>
          <a:p>
            <a:pPr algn="l">
              <a:lnSpc>
                <a:spcPts val="1736"/>
              </a:lnSpc>
            </a:pPr>
            <a:r>
              <a:rPr lang="en-US" sz="1335" b="1" spc="-53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11,09 - 15,11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20512" y="9452021"/>
            <a:ext cx="6862563" cy="30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2116" b="1" spc="42">
                <a:solidFill>
                  <a:srgbClr val="092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 9: Bản đồ phân cấp chi số độ âm địa hình (TWI)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20605" y="3697205"/>
            <a:ext cx="1447815" cy="38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sz="1265" b="1" spc="-12">
                <a:solidFill>
                  <a:srgbClr val="444444"/>
                </a:solidFill>
                <a:latin typeface="Inter Bold"/>
                <a:ea typeface="Inter Bold"/>
                <a:cs typeface="Inter Bold"/>
                <a:sym typeface="Inter Bold"/>
              </a:rPr>
              <a:t>Mặt độ thoát nước (m/km²)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95354" y="3717894"/>
            <a:ext cx="1424879" cy="23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2"/>
              </a:lnSpc>
            </a:pPr>
            <a:r>
              <a:rPr lang="en-US" sz="1494" b="1" spc="-14">
                <a:solidFill>
                  <a:srgbClr val="444444"/>
                </a:solidFill>
                <a:latin typeface="Inter Bold"/>
                <a:ea typeface="Inter Bold"/>
                <a:cs typeface="Inter Bold"/>
                <a:sym typeface="Inter Bold"/>
              </a:rPr>
              <a:t>Lớp phù bề mặt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6894" y="7816621"/>
            <a:ext cx="1001958" cy="23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b="1" spc="-14">
                <a:solidFill>
                  <a:srgbClr val="444444"/>
                </a:solidFill>
                <a:latin typeface="Inter Bold"/>
                <a:ea typeface="Inter Bold"/>
                <a:cs typeface="Inter Bold"/>
                <a:sym typeface="Inter Bold"/>
              </a:rPr>
              <a:t>Chi số TWI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88561" y="7690449"/>
            <a:ext cx="626910" cy="18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sz="1265" b="1" spc="-12">
                <a:solidFill>
                  <a:srgbClr val="444444"/>
                </a:solidFill>
                <a:latin typeface="Inter Bold"/>
                <a:ea typeface="Inter Bold"/>
                <a:cs typeface="Inter Bold"/>
                <a:sym typeface="Inter Bold"/>
              </a:rPr>
              <a:t>Loại đất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14" y="1325359"/>
            <a:ext cx="7563236" cy="381940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549" y="1348218"/>
            <a:ext cx="7629525" cy="379654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030" y="5705596"/>
            <a:ext cx="7539420" cy="351460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5676496"/>
            <a:ext cx="7534274" cy="354370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9550" y="1066800"/>
            <a:ext cx="8934450" cy="5581650"/>
          </a:xfrm>
          <a:custGeom>
            <a:avLst/>
            <a:gdLst/>
            <a:ahLst/>
            <a:cxnLst/>
            <a:rect l="l" t="t" r="r" b="b"/>
            <a:pathLst>
              <a:path w="8934450" h="5581650">
                <a:moveTo>
                  <a:pt x="0" y="0"/>
                </a:moveTo>
                <a:lnTo>
                  <a:pt x="8934450" y="0"/>
                </a:lnTo>
                <a:lnTo>
                  <a:pt x="893445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1066800"/>
            <a:ext cx="8715375" cy="5581650"/>
          </a:xfrm>
          <a:custGeom>
            <a:avLst/>
            <a:gdLst/>
            <a:ahLst/>
            <a:cxnLst/>
            <a:rect l="l" t="t" r="r" b="b"/>
            <a:pathLst>
              <a:path w="8715375" h="5581650">
                <a:moveTo>
                  <a:pt x="0" y="0"/>
                </a:moveTo>
                <a:lnTo>
                  <a:pt x="8715375" y="0"/>
                </a:lnTo>
                <a:lnTo>
                  <a:pt x="8715375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09550" y="6429375"/>
            <a:ext cx="17649825" cy="3857625"/>
          </a:xfrm>
          <a:custGeom>
            <a:avLst/>
            <a:gdLst/>
            <a:ahLst/>
            <a:cxnLst/>
            <a:rect l="l" t="t" r="r" b="b"/>
            <a:pathLst>
              <a:path w="17649825" h="3857625">
                <a:moveTo>
                  <a:pt x="0" y="0"/>
                </a:moveTo>
                <a:lnTo>
                  <a:pt x="17649825" y="0"/>
                </a:lnTo>
                <a:lnTo>
                  <a:pt x="176498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09550" y="638175"/>
            <a:ext cx="3933825" cy="438150"/>
          </a:xfrm>
          <a:custGeom>
            <a:avLst/>
            <a:gdLst/>
            <a:ahLst/>
            <a:cxnLst/>
            <a:rect l="l" t="t" r="r" b="b"/>
            <a:pathLst>
              <a:path w="3933825" h="438150">
                <a:moveTo>
                  <a:pt x="0" y="0"/>
                </a:moveTo>
                <a:lnTo>
                  <a:pt x="3933825" y="0"/>
                </a:lnTo>
                <a:lnTo>
                  <a:pt x="3933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02146" y="111025"/>
            <a:ext cx="3363504" cy="813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 b="1" spc="107">
                <a:solidFill>
                  <a:srgbClr val="0B418B"/>
                </a:solidFill>
                <a:latin typeface="Roboto Bold"/>
                <a:ea typeface="Roboto Bold"/>
                <a:cs typeface="Roboto Bold"/>
                <a:sym typeface="Roboto Bold"/>
              </a:rPr>
              <a:t>V. Kết quả</a:t>
            </a:r>
          </a:p>
        </p:txBody>
      </p:sp>
      <p:sp>
        <p:nvSpPr>
          <p:cNvPr id="8" name="Freeform 8"/>
          <p:cNvSpPr/>
          <p:nvPr/>
        </p:nvSpPr>
        <p:spPr>
          <a:xfrm>
            <a:off x="866775" y="1066800"/>
            <a:ext cx="7848600" cy="647700"/>
          </a:xfrm>
          <a:custGeom>
            <a:avLst/>
            <a:gdLst/>
            <a:ahLst/>
            <a:cxnLst/>
            <a:rect l="l" t="t" r="r" b="b"/>
            <a:pathLst>
              <a:path w="7848600" h="647700">
                <a:moveTo>
                  <a:pt x="0" y="0"/>
                </a:moveTo>
                <a:lnTo>
                  <a:pt x="7848600" y="0"/>
                </a:lnTo>
                <a:lnTo>
                  <a:pt x="784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897445" y="1316534"/>
            <a:ext cx="5632182" cy="29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 spc="3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Hình 10: Bản đồ phân cấp chi số thực vật NDVI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8625" y="1913226"/>
            <a:ext cx="3495675" cy="4505325"/>
          </a:xfrm>
          <a:custGeom>
            <a:avLst/>
            <a:gdLst/>
            <a:ahLst/>
            <a:cxnLst/>
            <a:rect l="l" t="t" r="r" b="b"/>
            <a:pathLst>
              <a:path w="3495675" h="4505325">
                <a:moveTo>
                  <a:pt x="0" y="0"/>
                </a:moveTo>
                <a:lnTo>
                  <a:pt x="3495675" y="0"/>
                </a:lnTo>
                <a:lnTo>
                  <a:pt x="34956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257550" y="19240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376276" y="1664014"/>
            <a:ext cx="941661" cy="2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71"/>
              </a:lnSpc>
            </a:pPr>
            <a:r>
              <a:rPr lang="en-US" sz="133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105*45*0°E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60503" y="1664014"/>
            <a:ext cx="941661" cy="2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71"/>
              </a:lnSpc>
            </a:pPr>
            <a:r>
              <a:rPr lang="en-US" sz="133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106*30*0°E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14775" y="1924050"/>
            <a:ext cx="5019675" cy="4505325"/>
          </a:xfrm>
          <a:custGeom>
            <a:avLst/>
            <a:gdLst/>
            <a:ahLst/>
            <a:cxnLst/>
            <a:rect l="l" t="t" r="r" b="b"/>
            <a:pathLst>
              <a:path w="5019675" h="4505325">
                <a:moveTo>
                  <a:pt x="0" y="0"/>
                </a:moveTo>
                <a:lnTo>
                  <a:pt x="5019675" y="0"/>
                </a:lnTo>
                <a:lnTo>
                  <a:pt x="50196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048625" y="1924050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249639" y="2936393"/>
            <a:ext cx="472785" cy="65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1617">
                <a:solidFill>
                  <a:srgbClr val="000000"/>
                </a:solidFill>
                <a:latin typeface="Kelvinch"/>
                <a:ea typeface="Kelvinch"/>
                <a:cs typeface="Kelvinch"/>
                <a:sym typeface="Kelvinch"/>
              </a:rPr>
              <a:t>0  10</a:t>
            </a:r>
          </a:p>
          <a:p>
            <a:pPr algn="r">
              <a:lnSpc>
                <a:spcPts val="2749"/>
              </a:lnSpc>
            </a:pPr>
            <a:r>
              <a:rPr lang="en-US" sz="1617" b="1">
                <a:solidFill>
                  <a:srgbClr val="000000"/>
                </a:solidFill>
                <a:latin typeface="Kelvinch Bold"/>
                <a:ea typeface="Kelvinch Bold"/>
                <a:cs typeface="Kelvinch Bold"/>
                <a:sym typeface="Kelvinch Bold"/>
              </a:rPr>
              <a:t>Km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33139" y="4295964"/>
            <a:ext cx="1200994" cy="54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Chi số NDVI</a:t>
            </a:r>
          </a:p>
          <a:p>
            <a:pPr algn="l">
              <a:lnSpc>
                <a:spcPts val="2204"/>
              </a:lnSpc>
            </a:pPr>
            <a:r>
              <a:rPr lang="en-US" sz="1696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Value</a:t>
            </a:r>
          </a:p>
        </p:txBody>
      </p:sp>
      <p:sp>
        <p:nvSpPr>
          <p:cNvPr id="18" name="Freeform 18"/>
          <p:cNvSpPr/>
          <p:nvPr/>
        </p:nvSpPr>
        <p:spPr>
          <a:xfrm>
            <a:off x="3914775" y="4714875"/>
            <a:ext cx="657225" cy="1504950"/>
          </a:xfrm>
          <a:custGeom>
            <a:avLst/>
            <a:gdLst/>
            <a:ahLst/>
            <a:cxnLst/>
            <a:rect l="l" t="t" r="r" b="b"/>
            <a:pathLst>
              <a:path w="657225" h="1504950">
                <a:moveTo>
                  <a:pt x="0" y="0"/>
                </a:moveTo>
                <a:lnTo>
                  <a:pt x="657225" y="0"/>
                </a:lnTo>
                <a:lnTo>
                  <a:pt x="657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517485" y="4898902"/>
            <a:ext cx="986618" cy="125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spc="-1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-0,36 - 0,08</a:t>
            </a:r>
          </a:p>
          <a:p>
            <a:pPr algn="l">
              <a:lnSpc>
                <a:spcPts val="2102"/>
              </a:lnSpc>
            </a:pPr>
            <a:r>
              <a:rPr lang="en-US" sz="1617" spc="-1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0,09 - 0,23</a:t>
            </a:r>
          </a:p>
          <a:p>
            <a:pPr algn="l">
              <a:lnSpc>
                <a:spcPts val="2102"/>
              </a:lnSpc>
            </a:pPr>
            <a:r>
              <a:rPr lang="en-US" sz="1617" spc="-1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0,24 - 0,36</a:t>
            </a:r>
          </a:p>
          <a:p>
            <a:pPr algn="l">
              <a:lnSpc>
                <a:spcPts val="2102"/>
              </a:lnSpc>
            </a:pPr>
            <a:r>
              <a:rPr lang="en-US" sz="1617" spc="-1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0,37 - 0,48</a:t>
            </a:r>
          </a:p>
          <a:p>
            <a:pPr algn="l">
              <a:lnSpc>
                <a:spcPts val="2102"/>
              </a:lnSpc>
            </a:pPr>
            <a:r>
              <a:rPr lang="en-US" sz="1617" spc="-15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0,49 - 1,00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2822" y="3872694"/>
            <a:ext cx="1203934" cy="2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 spc="-80">
                <a:solidFill>
                  <a:srgbClr val="2872B1"/>
                </a:solidFill>
                <a:latin typeface="Kelvinch Bold"/>
                <a:ea typeface="Kelvinch Bold"/>
                <a:cs typeface="Kelvinch Bold"/>
                <a:sym typeface="Kelvinch Bold"/>
              </a:rPr>
              <a:t>BIÊN ĐỘNG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04925" y="32099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956556" y="1913226"/>
            <a:ext cx="802298" cy="45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124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TRUNG QUỐC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56023" y="2124707"/>
            <a:ext cx="915400" cy="2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 spc="-80">
                <a:solidFill>
                  <a:srgbClr val="2872B1"/>
                </a:solidFill>
                <a:latin typeface="Kelvinch Bold"/>
                <a:ea typeface="Kelvinch Bold"/>
                <a:cs typeface="Kelvinch Bold"/>
                <a:sym typeface="Kelvinch Bold"/>
              </a:rPr>
              <a:t>HÀ TĨNH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4232" y="2352686"/>
            <a:ext cx="324504" cy="45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124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Hà Nội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0935" y="3302024"/>
            <a:ext cx="556972" cy="45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12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Quảng Bình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04530" y="3917900"/>
            <a:ext cx="436380" cy="23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 spc="-80">
                <a:solidFill>
                  <a:srgbClr val="2872B1"/>
                </a:solidFill>
                <a:latin typeface="Kelvinch Bold"/>
                <a:ea typeface="Kelvinch Bold"/>
                <a:cs typeface="Kelvinch Bold"/>
                <a:sym typeface="Kelvinch Bold"/>
              </a:rPr>
              <a:t>LÀO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84516" y="3781763"/>
            <a:ext cx="1316525" cy="45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125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QUẢN ĐẢO HOÀNG SA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178" y="3811901"/>
            <a:ext cx="572882" cy="45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12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THÁI LAN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2412" y="4433789"/>
            <a:ext cx="804918" cy="36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10">
                <a:solidFill>
                  <a:srgbClr val="222222"/>
                </a:solidFill>
                <a:latin typeface="Roboto Bold"/>
                <a:ea typeface="Roboto Bold"/>
                <a:cs typeface="Roboto Bold"/>
                <a:sym typeface="Roboto Bold"/>
              </a:rPr>
              <a:t>CAMPUCHIA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58676" y="4733051"/>
            <a:ext cx="979532" cy="24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2"/>
              </a:lnSpc>
            </a:pPr>
            <a:r>
              <a:rPr lang="en-US" sz="1494" b="1" i="1" spc="-14">
                <a:solidFill>
                  <a:srgbClr val="2272B2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BIÊN ĐÔNG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9318" y="5126956"/>
            <a:ext cx="683048" cy="36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10">
                <a:solidFill>
                  <a:srgbClr val="222222"/>
                </a:solidFill>
                <a:latin typeface="Roboto Bold"/>
                <a:ea typeface="Roboto Bold"/>
                <a:cs typeface="Roboto Bold"/>
                <a:sym typeface="Roboto Bold"/>
              </a:rPr>
              <a:t>PHÚ QUỐC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62128" y="5759847"/>
            <a:ext cx="1494261" cy="36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10">
                <a:solidFill>
                  <a:srgbClr val="222222"/>
                </a:solidFill>
                <a:latin typeface="Roboto Bold"/>
                <a:ea typeface="Roboto Bold"/>
                <a:cs typeface="Roboto Bold"/>
                <a:sym typeface="Roboto Bold"/>
              </a:rPr>
              <a:t>GUẦN ĐẢO TRƯỜNG SA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6" y="1714500"/>
            <a:ext cx="8605836" cy="470405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865" y="1714500"/>
            <a:ext cx="8683510" cy="470405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150" y="666750"/>
            <a:ext cx="85725" cy="819150"/>
            <a:chOff x="0" y="0"/>
            <a:chExt cx="114300" cy="109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" cy="1092200"/>
            </a:xfrm>
            <a:custGeom>
              <a:avLst/>
              <a:gdLst/>
              <a:ahLst/>
              <a:cxnLst/>
              <a:rect l="l" t="t" r="r" b="b"/>
              <a:pathLst>
                <a:path w="114300" h="10922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1041400"/>
                  </a:lnTo>
                  <a:cubicBezTo>
                    <a:pt x="114300" y="1069456"/>
                    <a:pt x="91556" y="1092200"/>
                    <a:pt x="63500" y="1092200"/>
                  </a:cubicBezTo>
                  <a:lnTo>
                    <a:pt x="50800" y="1092200"/>
                  </a:lnTo>
                  <a:cubicBezTo>
                    <a:pt x="22744" y="1092200"/>
                    <a:pt x="0" y="1069456"/>
                    <a:pt x="0" y="1041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5C4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3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5850" y="438150"/>
            <a:ext cx="4488377" cy="103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V.Kết quả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85850" y="1485900"/>
            <a:ext cx="16383000" cy="19050"/>
            <a:chOff x="0" y="0"/>
            <a:chExt cx="21844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44000" cy="25400"/>
            </a:xfrm>
            <a:custGeom>
              <a:avLst/>
              <a:gdLst/>
              <a:ahLst/>
              <a:cxnLst/>
              <a:rect l="l" t="t" r="r" b="b"/>
              <a:pathLst>
                <a:path w="21844000" h="254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5C4D6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9150" y="1809750"/>
            <a:ext cx="8191500" cy="3381375"/>
            <a:chOff x="0" y="0"/>
            <a:chExt cx="10922000" cy="450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22000" cy="4508500"/>
            </a:xfrm>
            <a:custGeom>
              <a:avLst/>
              <a:gdLst/>
              <a:ahLst/>
              <a:cxnLst/>
              <a:rect l="l" t="t" r="r" b="b"/>
              <a:pathLst>
                <a:path w="10922000" h="45085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4279900"/>
                  </a:lnTo>
                  <a:cubicBezTo>
                    <a:pt x="10922000" y="4406152"/>
                    <a:pt x="10819652" y="4508500"/>
                    <a:pt x="10693400" y="4508500"/>
                  </a:cubicBezTo>
                  <a:lnTo>
                    <a:pt x="228600" y="4508500"/>
                  </a:lnTo>
                  <a:cubicBezTo>
                    <a:pt x="102348" y="4508500"/>
                    <a:pt x="0" y="4406152"/>
                    <a:pt x="0" y="4279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B385C"/>
            </a:solidFill>
            <a:ln w="19050" cap="sq">
              <a:solidFill>
                <a:srgbClr val="25C4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22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9150" y="1809750"/>
            <a:ext cx="95250" cy="3381375"/>
            <a:chOff x="0" y="0"/>
            <a:chExt cx="127000" cy="450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000" cy="4508500"/>
            </a:xfrm>
            <a:custGeom>
              <a:avLst/>
              <a:gdLst/>
              <a:ahLst/>
              <a:cxnLst/>
              <a:rect l="l" t="t" r="r" b="b"/>
              <a:pathLst>
                <a:path w="127000" h="4508500">
                  <a:moveTo>
                    <a:pt x="63500" y="0"/>
                  </a:moveTo>
                  <a:lnTo>
                    <a:pt x="63500" y="0"/>
                  </a:ln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445000"/>
                  </a:lnTo>
                  <a:cubicBezTo>
                    <a:pt x="127000" y="4480070"/>
                    <a:pt x="98570" y="4508500"/>
                    <a:pt x="63500" y="4508500"/>
                  </a:cubicBezTo>
                  <a:lnTo>
                    <a:pt x="63500" y="4508500"/>
                  </a:lnTo>
                  <a:cubicBezTo>
                    <a:pt x="28430" y="4508500"/>
                    <a:pt x="0" y="4480070"/>
                    <a:pt x="0" y="4445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5C4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04900" y="1971675"/>
            <a:ext cx="76390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25C4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Bản đồ ngập lụt: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900" y="2562225"/>
            <a:ext cx="763905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Hiển thị phạm vi ngập theo từng kịch bản mưa lũ, giúp hình dung trực quan.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77350" y="1809750"/>
            <a:ext cx="8191500" cy="3381375"/>
            <a:chOff x="0" y="0"/>
            <a:chExt cx="10922000" cy="4508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22000" cy="4508500"/>
            </a:xfrm>
            <a:custGeom>
              <a:avLst/>
              <a:gdLst/>
              <a:ahLst/>
              <a:cxnLst/>
              <a:rect l="l" t="t" r="r" b="b"/>
              <a:pathLst>
                <a:path w="10922000" h="45085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4279900"/>
                  </a:lnTo>
                  <a:cubicBezTo>
                    <a:pt x="10922000" y="4406152"/>
                    <a:pt x="10819652" y="4508500"/>
                    <a:pt x="10693400" y="4508500"/>
                  </a:cubicBezTo>
                  <a:lnTo>
                    <a:pt x="228600" y="4508500"/>
                  </a:lnTo>
                  <a:cubicBezTo>
                    <a:pt x="102348" y="4508500"/>
                    <a:pt x="0" y="4406152"/>
                    <a:pt x="0" y="4279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B385C"/>
            </a:solidFill>
            <a:ln w="19050" cap="sq">
              <a:solidFill>
                <a:srgbClr val="47D8C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922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77350" y="1809750"/>
            <a:ext cx="95250" cy="3381375"/>
            <a:chOff x="0" y="0"/>
            <a:chExt cx="127000" cy="4508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000" cy="4508500"/>
            </a:xfrm>
            <a:custGeom>
              <a:avLst/>
              <a:gdLst/>
              <a:ahLst/>
              <a:cxnLst/>
              <a:rect l="l" t="t" r="r" b="b"/>
              <a:pathLst>
                <a:path w="127000" h="4508500">
                  <a:moveTo>
                    <a:pt x="63500" y="0"/>
                  </a:moveTo>
                  <a:lnTo>
                    <a:pt x="63500" y="0"/>
                  </a:ln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445000"/>
                  </a:lnTo>
                  <a:cubicBezTo>
                    <a:pt x="127000" y="4480070"/>
                    <a:pt x="98570" y="4508500"/>
                    <a:pt x="63500" y="4508500"/>
                  </a:cubicBezTo>
                  <a:lnTo>
                    <a:pt x="63500" y="4508500"/>
                  </a:lnTo>
                  <a:cubicBezTo>
                    <a:pt x="28430" y="4508500"/>
                    <a:pt x="0" y="4480070"/>
                    <a:pt x="0" y="4445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7D8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7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63100" y="1971675"/>
            <a:ext cx="76390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D8C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vùng nguy cơ: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3100" y="2562225"/>
            <a:ext cx="7639050" cy="2627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30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 vực nguy cơ cao: vùng trũng, ven sông, nơi tập trung dân cư đông.</a:t>
            </a:r>
          </a:p>
          <a:p>
            <a:pPr algn="l">
              <a:lnSpc>
                <a:spcPts val="4139"/>
              </a:lnSpc>
            </a:pPr>
            <a:r>
              <a:rPr lang="en-US" sz="30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 vực nguy cơ trung bình: vùng bán sơn địa, có hạ tầng phòng chống lũ.</a:t>
            </a:r>
          </a:p>
          <a:p>
            <a:pPr algn="l">
              <a:lnSpc>
                <a:spcPts val="4139"/>
              </a:lnSpc>
            </a:pPr>
            <a:r>
              <a:rPr lang="en-US" sz="30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 vực nguy cơ thấp: vùng cao, ít dân cư.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19150" y="5581650"/>
            <a:ext cx="8191500" cy="3381375"/>
            <a:chOff x="0" y="0"/>
            <a:chExt cx="10922000" cy="450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22000" cy="4508500"/>
            </a:xfrm>
            <a:custGeom>
              <a:avLst/>
              <a:gdLst/>
              <a:ahLst/>
              <a:cxnLst/>
              <a:rect l="l" t="t" r="r" b="b"/>
              <a:pathLst>
                <a:path w="10922000" h="45085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4279900"/>
                  </a:lnTo>
                  <a:cubicBezTo>
                    <a:pt x="10922000" y="4406152"/>
                    <a:pt x="10819652" y="4508500"/>
                    <a:pt x="10693400" y="4508500"/>
                  </a:cubicBezTo>
                  <a:lnTo>
                    <a:pt x="228600" y="4508500"/>
                  </a:lnTo>
                  <a:cubicBezTo>
                    <a:pt x="102348" y="4508500"/>
                    <a:pt x="0" y="4406152"/>
                    <a:pt x="0" y="4279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B385C"/>
            </a:solidFill>
            <a:ln w="19050" cap="sq">
              <a:solidFill>
                <a:srgbClr val="55B9F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922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9150" y="5581650"/>
            <a:ext cx="95250" cy="3381375"/>
            <a:chOff x="0" y="0"/>
            <a:chExt cx="127000" cy="4508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7000" cy="4508500"/>
            </a:xfrm>
            <a:custGeom>
              <a:avLst/>
              <a:gdLst/>
              <a:ahLst/>
              <a:cxnLst/>
              <a:rect l="l" t="t" r="r" b="b"/>
              <a:pathLst>
                <a:path w="127000" h="4508500">
                  <a:moveTo>
                    <a:pt x="63500" y="0"/>
                  </a:moveTo>
                  <a:lnTo>
                    <a:pt x="63500" y="0"/>
                  </a:ln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445000"/>
                  </a:lnTo>
                  <a:cubicBezTo>
                    <a:pt x="127000" y="4480070"/>
                    <a:pt x="98570" y="4508500"/>
                    <a:pt x="63500" y="4508500"/>
                  </a:cubicBezTo>
                  <a:lnTo>
                    <a:pt x="63500" y="4508500"/>
                  </a:lnTo>
                  <a:cubicBezTo>
                    <a:pt x="28430" y="4508500"/>
                    <a:pt x="0" y="4480070"/>
                    <a:pt x="0" y="4445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55B9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7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04900" y="5743575"/>
            <a:ext cx="76390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55B9F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 giá tác động: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4900" y="6334125"/>
            <a:ext cx="7639050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 dân cư bị ảnh hưởng, diện tích đất nông nghiệp, hạ tầng bị ngập.</a:t>
            </a:r>
          </a:p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tính thiệt hại kinh tế – xã hội.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277350" y="5581650"/>
            <a:ext cx="8191500" cy="3381375"/>
            <a:chOff x="0" y="0"/>
            <a:chExt cx="10922000" cy="4508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22000" cy="4508500"/>
            </a:xfrm>
            <a:custGeom>
              <a:avLst/>
              <a:gdLst/>
              <a:ahLst/>
              <a:cxnLst/>
              <a:rect l="l" t="t" r="r" b="b"/>
              <a:pathLst>
                <a:path w="10922000" h="45085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4279900"/>
                  </a:lnTo>
                  <a:cubicBezTo>
                    <a:pt x="10922000" y="4406152"/>
                    <a:pt x="10819652" y="4508500"/>
                    <a:pt x="10693400" y="4508500"/>
                  </a:cubicBezTo>
                  <a:lnTo>
                    <a:pt x="228600" y="4508500"/>
                  </a:lnTo>
                  <a:cubicBezTo>
                    <a:pt x="102348" y="4508500"/>
                    <a:pt x="0" y="4406152"/>
                    <a:pt x="0" y="42799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B385C"/>
            </a:solidFill>
            <a:ln w="19050" cap="sq">
              <a:solidFill>
                <a:srgbClr val="8FD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0922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77350" y="5581650"/>
            <a:ext cx="95250" cy="3381375"/>
            <a:chOff x="0" y="0"/>
            <a:chExt cx="127000" cy="4508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7000" cy="4508500"/>
            </a:xfrm>
            <a:custGeom>
              <a:avLst/>
              <a:gdLst/>
              <a:ahLst/>
              <a:cxnLst/>
              <a:rect l="l" t="t" r="r" b="b"/>
              <a:pathLst>
                <a:path w="127000" h="4508500">
                  <a:moveTo>
                    <a:pt x="63500" y="0"/>
                  </a:moveTo>
                  <a:lnTo>
                    <a:pt x="63500" y="0"/>
                  </a:ln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445000"/>
                  </a:lnTo>
                  <a:cubicBezTo>
                    <a:pt x="127000" y="4480070"/>
                    <a:pt x="98570" y="4508500"/>
                    <a:pt x="63500" y="4508500"/>
                  </a:cubicBezTo>
                  <a:lnTo>
                    <a:pt x="63500" y="4508500"/>
                  </a:lnTo>
                  <a:cubicBezTo>
                    <a:pt x="28430" y="4508500"/>
                    <a:pt x="0" y="4480070"/>
                    <a:pt x="0" y="4445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8FD8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27000" cy="454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563100" y="5743575"/>
            <a:ext cx="76390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8FD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Giải pháp: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63100" y="6343650"/>
            <a:ext cx="7639050" cy="247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 hoạch đô thị tránh vùng ngập.</a:t>
            </a:r>
          </a:p>
          <a:p>
            <a:pPr algn="l">
              <a:lnSpc>
                <a:spcPts val="3966"/>
              </a:lnSpc>
            </a:pP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công trình phòng chống lũ (đê, hồ chứa, trạm bơm).</a:t>
            </a:r>
          </a:p>
          <a:p>
            <a:pPr algn="l">
              <a:lnSpc>
                <a:spcPts val="3966"/>
              </a:lnSpc>
            </a:pP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cảnh báo sớm và sơ tán dân cư.</a:t>
            </a:r>
          </a:p>
          <a:p>
            <a:pPr algn="l">
              <a:lnSpc>
                <a:spcPts val="3966"/>
              </a:lnSpc>
            </a:pP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 cao nhận thức cộng đồng về phòng chống lũ.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715250"/>
            <a:ext cx="9801225" cy="2571750"/>
          </a:xfrm>
          <a:custGeom>
            <a:avLst/>
            <a:gdLst/>
            <a:ahLst/>
            <a:cxnLst/>
            <a:rect l="l" t="t" r="r" b="b"/>
            <a:pathLst>
              <a:path w="9801225" h="2571750">
                <a:moveTo>
                  <a:pt x="0" y="0"/>
                </a:moveTo>
                <a:lnTo>
                  <a:pt x="9801225" y="0"/>
                </a:lnTo>
                <a:lnTo>
                  <a:pt x="9801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67700" y="0"/>
            <a:ext cx="9153525" cy="10287000"/>
          </a:xfrm>
          <a:custGeom>
            <a:avLst/>
            <a:gdLst/>
            <a:ahLst/>
            <a:cxnLst/>
            <a:rect l="l" t="t" r="r" b="b"/>
            <a:pathLst>
              <a:path w="9153525" h="10287000">
                <a:moveTo>
                  <a:pt x="0" y="0"/>
                </a:moveTo>
                <a:lnTo>
                  <a:pt x="9153525" y="0"/>
                </a:lnTo>
                <a:lnTo>
                  <a:pt x="9153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09550" y="209550"/>
            <a:ext cx="1104900" cy="1076325"/>
          </a:xfrm>
          <a:custGeom>
            <a:avLst/>
            <a:gdLst/>
            <a:ahLst/>
            <a:cxnLst/>
            <a:rect l="l" t="t" r="r" b="b"/>
            <a:pathLst>
              <a:path w="1104900" h="1076325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7700" y="2143125"/>
            <a:ext cx="7848600" cy="219075"/>
          </a:xfrm>
          <a:custGeom>
            <a:avLst/>
            <a:gdLst/>
            <a:ahLst/>
            <a:cxnLst/>
            <a:rect l="l" t="t" r="r" b="b"/>
            <a:pathLst>
              <a:path w="7848600" h="219075">
                <a:moveTo>
                  <a:pt x="0" y="0"/>
                </a:moveTo>
                <a:lnTo>
                  <a:pt x="7848600" y="0"/>
                </a:lnTo>
                <a:lnTo>
                  <a:pt x="784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257550" y="638175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0" y="0"/>
                </a:moveTo>
                <a:lnTo>
                  <a:pt x="1752600" y="0"/>
                </a:lnTo>
                <a:lnTo>
                  <a:pt x="1752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60674" y="1088789"/>
            <a:ext cx="4850573" cy="88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1" spc="134">
                <a:solidFill>
                  <a:srgbClr val="F6F6F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VI. Kết luận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2571750"/>
            <a:ext cx="9153525" cy="1714500"/>
          </a:xfrm>
          <a:custGeom>
            <a:avLst/>
            <a:gdLst/>
            <a:ahLst/>
            <a:cxnLst/>
            <a:rect l="l" t="t" r="r" b="b"/>
            <a:pathLst>
              <a:path w="9153525" h="1714500">
                <a:moveTo>
                  <a:pt x="0" y="0"/>
                </a:moveTo>
                <a:lnTo>
                  <a:pt x="9153525" y="0"/>
                </a:lnTo>
                <a:lnTo>
                  <a:pt x="915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10973" y="3094760"/>
            <a:ext cx="701098" cy="67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1" spc="102">
                <a:solidFill>
                  <a:srgbClr val="F6F6F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5285" y="2864459"/>
            <a:ext cx="5536382" cy="119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4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GIS là công cụ hiệu quả trong nghiên cứu lũ, giúp mô phỏng và trực quan hóa dữ liệu</a:t>
            </a:r>
          </a:p>
          <a:p>
            <a:pPr algn="l">
              <a:lnSpc>
                <a:spcPts val="3185"/>
              </a:lnSpc>
            </a:pPr>
            <a:r>
              <a:rPr lang="en-US" sz="24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phức tạp.</a:t>
            </a:r>
          </a:p>
        </p:txBody>
      </p:sp>
      <p:sp>
        <p:nvSpPr>
          <p:cNvPr id="12" name="Freeform 12"/>
          <p:cNvSpPr/>
          <p:nvPr/>
        </p:nvSpPr>
        <p:spPr>
          <a:xfrm>
            <a:off x="7829550" y="278130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267700" y="3000375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47700" y="4286250"/>
            <a:ext cx="9153525" cy="1714500"/>
          </a:xfrm>
          <a:custGeom>
            <a:avLst/>
            <a:gdLst/>
            <a:ahLst/>
            <a:cxnLst/>
            <a:rect l="l" t="t" r="r" b="b"/>
            <a:pathLst>
              <a:path w="9153525" h="1714500">
                <a:moveTo>
                  <a:pt x="0" y="0"/>
                </a:moveTo>
                <a:lnTo>
                  <a:pt x="9153525" y="0"/>
                </a:lnTo>
                <a:lnTo>
                  <a:pt x="915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10973" y="4857815"/>
            <a:ext cx="701098" cy="67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1" spc="102">
                <a:solidFill>
                  <a:srgbClr val="F6F6F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8112" y="4642583"/>
            <a:ext cx="5551438" cy="128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Kết quả nghiên cứu hỗ trợ cơ quan quản lý ra quyết định nhanh, chính xác,</a:t>
            </a:r>
          </a:p>
          <a:p>
            <a:pPr algn="l">
              <a:lnSpc>
                <a:spcPts val="3445"/>
              </a:lnSpc>
            </a:pPr>
            <a:r>
              <a:rPr lang="en-US" sz="26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giảm thiểu thiệt hại.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29550" y="471487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267700" y="47148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647700" y="6000750"/>
            <a:ext cx="9153525" cy="1714500"/>
          </a:xfrm>
          <a:custGeom>
            <a:avLst/>
            <a:gdLst/>
            <a:ahLst/>
            <a:cxnLst/>
            <a:rect l="l" t="t" r="r" b="b"/>
            <a:pathLst>
              <a:path w="9153525" h="1714500">
                <a:moveTo>
                  <a:pt x="0" y="0"/>
                </a:moveTo>
                <a:lnTo>
                  <a:pt x="9153525" y="0"/>
                </a:lnTo>
                <a:lnTo>
                  <a:pt x="915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10973" y="6545526"/>
            <a:ext cx="701098" cy="67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1" spc="102">
                <a:solidFill>
                  <a:srgbClr val="F6F6F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78236" y="6526190"/>
            <a:ext cx="5533431" cy="79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4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Đề tài có ý nghĩa thực tiễn cao trong bối cảnh biến đổi khí hậu và đô thị hóa nhanh.</a:t>
            </a:r>
          </a:p>
        </p:txBody>
      </p:sp>
      <p:sp>
        <p:nvSpPr>
          <p:cNvPr id="22" name="Freeform 22"/>
          <p:cNvSpPr/>
          <p:nvPr/>
        </p:nvSpPr>
        <p:spPr>
          <a:xfrm>
            <a:off x="7829550" y="642937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267700" y="64293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47700" y="7715250"/>
            <a:ext cx="9153525" cy="1504950"/>
          </a:xfrm>
          <a:custGeom>
            <a:avLst/>
            <a:gdLst/>
            <a:ahLst/>
            <a:cxnLst/>
            <a:rect l="l" t="t" r="r" b="b"/>
            <a:pathLst>
              <a:path w="9153525" h="1504950">
                <a:moveTo>
                  <a:pt x="0" y="0"/>
                </a:moveTo>
                <a:lnTo>
                  <a:pt x="9153525" y="0"/>
                </a:lnTo>
                <a:lnTo>
                  <a:pt x="915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10973" y="8157893"/>
            <a:ext cx="701098" cy="67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1" spc="102">
                <a:solidFill>
                  <a:srgbClr val="F6F6F6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80298" y="8001707"/>
            <a:ext cx="5339702" cy="8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1">
                <a:solidFill>
                  <a:srgbClr val="F6F6F6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Góp phần xây dựng chiến lược phát triển bền vững, thích ứng với thiên tai.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29550" y="792480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267700" y="79248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9791700" y="9429750"/>
            <a:ext cx="2838450" cy="428625"/>
          </a:xfrm>
          <a:custGeom>
            <a:avLst/>
            <a:gdLst/>
            <a:ahLst/>
            <a:cxnLst/>
            <a:rect l="l" t="t" r="r" b="b"/>
            <a:pathLst>
              <a:path w="2838450" h="428625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3496925" y="8572500"/>
            <a:ext cx="3486150" cy="1504950"/>
          </a:xfrm>
          <a:custGeom>
            <a:avLst/>
            <a:gdLst/>
            <a:ahLst/>
            <a:cxnLst/>
            <a:rect l="l" t="t" r="r" b="b"/>
            <a:pathLst>
              <a:path w="3486150" h="1504950">
                <a:moveTo>
                  <a:pt x="0" y="0"/>
                </a:moveTo>
                <a:lnTo>
                  <a:pt x="3486150" y="0"/>
                </a:lnTo>
                <a:lnTo>
                  <a:pt x="3486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716000" y="900112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0" y="0"/>
                </a:moveTo>
                <a:lnTo>
                  <a:pt x="3048000" y="0"/>
                </a:lnTo>
                <a:lnTo>
                  <a:pt x="304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4253008" y="8835219"/>
            <a:ext cx="1944039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32">
                <a:solidFill>
                  <a:srgbClr val="24A9C5"/>
                </a:solidFill>
                <a:latin typeface="Lato Bold"/>
                <a:ea typeface="Lato Bold"/>
                <a:cs typeface="Lato Bold"/>
                <a:sym typeface="Lato Bold"/>
              </a:rPr>
              <a:t>ĐỘ SÂU NGẬP (M)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55850" y="225140"/>
            <a:ext cx="854556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105*19'E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491819" y="225140"/>
            <a:ext cx="854556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105*20'E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00968" y="9287284"/>
            <a:ext cx="768854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1000 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54577" y="225140"/>
            <a:ext cx="854556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105*21'E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73460" y="225140"/>
            <a:ext cx="854556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105*18'E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2252" y="225140"/>
            <a:ext cx="812189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1E2D48"/>
                </a:solidFill>
                <a:latin typeface="Lato"/>
                <a:ea typeface="Lato"/>
                <a:cs typeface="Lato"/>
                <a:sym typeface="Lato"/>
              </a:rPr>
              <a:t>10F18/E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480078" y="1641611"/>
            <a:ext cx="771632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21*04'N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480078" y="3841663"/>
            <a:ext cx="771632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21*03'N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480078" y="5951302"/>
            <a:ext cx="771632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21*02'N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480078" y="8045872"/>
            <a:ext cx="771632" cy="1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494" spc="29">
                <a:solidFill>
                  <a:srgbClr val="A8A8A8"/>
                </a:solidFill>
                <a:latin typeface="Lato"/>
                <a:ea typeface="Lato"/>
                <a:cs typeface="Lato"/>
                <a:sym typeface="Lato"/>
              </a:rPr>
              <a:t>21*01'N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41539" y="9287284"/>
            <a:ext cx="393331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250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57688" y="9287284"/>
            <a:ext cx="393331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500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73836" y="9287284"/>
            <a:ext cx="393331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750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68978" y="9287284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787337" y="9543455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091196" y="9543455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751743" y="9543455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233946" y="9543455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716149" y="9543455"/>
            <a:ext cx="131110" cy="21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32">
                <a:solidFill>
                  <a:srgbClr val="24A9C5"/>
                </a:solidFill>
                <a:latin typeface="Lato"/>
                <a:ea typeface="Lato"/>
                <a:cs typeface="Lato"/>
                <a:sym typeface="Lato"/>
              </a:rPr>
              <a:t>4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364182" cy="4077631"/>
          </a:xfrm>
          <a:custGeom>
            <a:avLst/>
            <a:gdLst/>
            <a:ahLst/>
            <a:cxnLst/>
            <a:rect l="l" t="t" r="r" b="b"/>
            <a:pathLst>
              <a:path w="4364182" h="4077631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7499343"/>
            <a:ext cx="11976890" cy="2787657"/>
          </a:xfrm>
          <a:custGeom>
            <a:avLst/>
            <a:gdLst/>
            <a:ahLst/>
            <a:cxnLst/>
            <a:rect l="l" t="t" r="r" b="b"/>
            <a:pathLst>
              <a:path w="11976890" h="2787657">
                <a:moveTo>
                  <a:pt x="0" y="0"/>
                </a:moveTo>
                <a:lnTo>
                  <a:pt x="11976890" y="0"/>
                </a:lnTo>
                <a:lnTo>
                  <a:pt x="11976890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84472" y="2798554"/>
            <a:ext cx="12775287" cy="225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41"/>
              </a:lnSpc>
            </a:pPr>
            <a:r>
              <a:rPr lang="en-US" sz="7579" b="1" spc="151">
                <a:solidFill>
                  <a:srgbClr val="082A52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CẢM ƠN THẦY/CÔ VÀ CÁC BẠN ĐÃ LẮNG NGHE</a:t>
            </a:r>
          </a:p>
        </p:txBody>
      </p:sp>
      <p:sp>
        <p:nvSpPr>
          <p:cNvPr id="6" name="Freeform 6"/>
          <p:cNvSpPr/>
          <p:nvPr/>
        </p:nvSpPr>
        <p:spPr>
          <a:xfrm>
            <a:off x="8487732" y="5356674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05677" y="6014530"/>
            <a:ext cx="8332877" cy="52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3168">
                <a:solidFill>
                  <a:srgbClr val="082A52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Kính mong nhận được ý kiến đóng góp và câu hỏi</a:t>
            </a: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2185</Words>
  <Application>Microsoft Office PowerPoint</Application>
  <PresentationFormat>Custom</PresentationFormat>
  <Paragraphs>315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5" baseType="lpstr">
      <vt:lpstr>Arial</vt:lpstr>
      <vt:lpstr>Times New Roman</vt:lpstr>
      <vt:lpstr>Calibri</vt:lpstr>
      <vt:lpstr>Inter Semi-Bold</vt:lpstr>
      <vt:lpstr>Inter Bold</vt:lpstr>
      <vt:lpstr>Tex Gyre Termes Bold</vt:lpstr>
      <vt:lpstr>Times New Roman Bold</vt:lpstr>
      <vt:lpstr>Roboto Bold</vt:lpstr>
      <vt:lpstr>Lato</vt:lpstr>
      <vt:lpstr>Lato Bold</vt:lpstr>
      <vt:lpstr>Roboto</vt:lpstr>
      <vt:lpstr>Roboto Bold Italics</vt:lpstr>
      <vt:lpstr>Kelvinch</vt:lpstr>
      <vt:lpstr>Kelvinch Bold</vt:lpstr>
      <vt:lpstr>Tex Gyre Termes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ứng dụng mô hình GIS trong nghiên cứu lũ</dc:title>
  <cp:lastModifiedBy>PC</cp:lastModifiedBy>
  <cp:revision>11</cp:revision>
  <dcterms:created xsi:type="dcterms:W3CDTF">2006-08-16T00:00:00Z</dcterms:created>
  <dcterms:modified xsi:type="dcterms:W3CDTF">2026-10-20T05:26:55Z</dcterms:modified>
  <dc:identifier>DAHYXMHQrzc</dc:identifier>
</cp:coreProperties>
</file>